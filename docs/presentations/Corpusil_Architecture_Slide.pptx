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5280" y="1219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Corpusil — Multi-Agent Legal RAG Platform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335280" y="320040"/>
            <a:ext cx="8382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law · one request, three journeys, three outputs · 1,036 canonical documents from 38 official publishers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03960" y="502920"/>
            <a:ext cx="2286000" cy="381000"/>
          </a:xfrm>
          <a:prstGeom prst="roundRect">
            <a:avLst>
              <a:gd name="adj" fmla="val 19200"/>
            </a:avLst>
          </a:prstGeom>
          <a:solidFill>
            <a:srgbClr val="EFF6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10640" y="571500"/>
            <a:ext cx="20726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310640" y="708660"/>
            <a:ext cx="20726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only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703320" y="502920"/>
            <a:ext cx="2286000" cy="381000"/>
          </a:xfrm>
          <a:prstGeom prst="roundRect">
            <a:avLst>
              <a:gd name="adj" fmla="val 19200"/>
            </a:avLst>
          </a:prstGeom>
          <a:solidFill>
            <a:srgbClr val="EFF6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10000" y="571500"/>
            <a:ext cx="20726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810000" y="708660"/>
            <a:ext cx="20726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case tools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02680" y="502920"/>
            <a:ext cx="2286000" cy="381000"/>
          </a:xfrm>
          <a:prstGeom prst="roundRect">
            <a:avLst>
              <a:gd name="adj" fmla="val 19200"/>
            </a:avLst>
          </a:prstGeom>
          <a:solidFill>
            <a:srgbClr val="EFF6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571500"/>
            <a:ext cx="20726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708660"/>
            <a:ext cx="20726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case tools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702040" y="502920"/>
            <a:ext cx="2286000" cy="381000"/>
          </a:xfrm>
          <a:prstGeom prst="roundRect">
            <a:avLst>
              <a:gd name="adj" fmla="val 19200"/>
            </a:avLst>
          </a:prstGeom>
          <a:solidFill>
            <a:srgbClr val="EFF6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08720" y="571500"/>
            <a:ext cx="20726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808720" y="708660"/>
            <a:ext cx="20726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· users · audit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03960" y="944880"/>
            <a:ext cx="9784080" cy="4267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10640" y="990600"/>
            <a:ext cx="6096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 — one Next.js 14 / React 18 single-page application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990600"/>
            <a:ext cx="25146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ROLE → EITHER TARGET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10640" y="1127760"/>
            <a:ext cx="4770120" cy="198120"/>
          </a:xfrm>
          <a:prstGeom prst="roundRect">
            <a:avLst>
              <a:gd name="adj" fmla="val 36923"/>
            </a:avLst>
          </a:prstGeom>
          <a:solidFill>
            <a:srgbClr val="EFF6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17320" y="1104900"/>
            <a:ext cx="4556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(browser)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127760"/>
            <a:ext cx="4770120" cy="198120"/>
          </a:xfrm>
          <a:prstGeom prst="roundRect">
            <a:avLst>
              <a:gd name="adj" fmla="val 36923"/>
            </a:avLst>
          </a:prstGeom>
          <a:solidFill>
            <a:srgbClr val="EFF6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24600" y="1104900"/>
            <a:ext cx="4556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(Tauri 2 shell)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46960" y="883920"/>
            <a:ext cx="0" cy="609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46320" y="883920"/>
            <a:ext cx="0" cy="609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45680" y="883920"/>
            <a:ext cx="0" cy="609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45040" y="883920"/>
            <a:ext cx="0" cy="609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29000" y="1463040"/>
            <a:ext cx="5334000" cy="33528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3970">
            <a:solidFill>
              <a:srgbClr val="99F6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35680" y="1508760"/>
            <a:ext cx="51206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API Gateway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535680" y="1645920"/>
            <a:ext cx="51206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routers · JWT + RBAC · per-user rate limits · audit logs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96000" y="137160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118360" y="1935480"/>
            <a:ext cx="39624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3970">
            <a:solidFill>
              <a:srgbClr val="99F6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25040" y="1973580"/>
            <a:ext cx="37490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Router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225040" y="2110740"/>
            <a:ext cx="37490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FIRST — citizen → Deep · police / advocate → by complexity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242560" y="198120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542020" y="1935480"/>
            <a:ext cx="30480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397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48700" y="1973580"/>
            <a:ext cx="28346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&amp; Investigation Routers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648700" y="2110740"/>
            <a:ext cx="28346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· investigation · document_analysis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751820" y="198120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/ ADVOCATE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 flipH="1">
            <a:off x="4099560" y="1798320"/>
            <a:ext cx="199644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96000" y="1798320"/>
            <a:ext cx="397002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35280" y="2331720"/>
            <a:ext cx="3550920" cy="2468880"/>
          </a:xfrm>
          <a:prstGeom prst="roundRect">
            <a:avLst>
              <a:gd name="adj" fmla="val 3704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2392680"/>
            <a:ext cx="202692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 · source inspection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362200" y="2392680"/>
            <a:ext cx="141732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· NO RERANK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312920" y="2331720"/>
            <a:ext cx="355092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34840" y="2392680"/>
            <a:ext cx="202692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LANE · agent pipeline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339840" y="2392680"/>
            <a:ext cx="141732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5 AGENTS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290560" y="2331720"/>
            <a:ext cx="3550920" cy="2468880"/>
          </a:xfrm>
          <a:prstGeom prst="roundRect">
            <a:avLst>
              <a:gd name="adj" fmla="val 370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412480" y="2392680"/>
            <a:ext cx="202692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&amp; INVESTIGATION · police &amp; advocate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0317480" y="2392680"/>
            <a:ext cx="141732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· 2 SERVICES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 flipH="1">
            <a:off x="2110740" y="2255520"/>
            <a:ext cx="198882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099560" y="2255520"/>
            <a:ext cx="198882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066020" y="225552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02920" y="2590800"/>
            <a:ext cx="3215640" cy="441960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13970">
            <a:solidFill>
              <a:srgbClr val="99F6E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09600" y="268986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Hybrid Search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609600" y="282702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(BGE-M3) · RRF fusion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2920" y="3444240"/>
            <a:ext cx="3215640" cy="441960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13970">
            <a:solidFill>
              <a:srgbClr val="99F6E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09600" y="354330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Coverage Gate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09600" y="368046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when nothing is on point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110740" y="3032760"/>
            <a:ext cx="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502920" y="4297680"/>
            <a:ext cx="3215640" cy="441960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13970">
            <a:solidFill>
              <a:srgbClr val="99F6E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09600" y="439674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Ranked Passages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09600" y="453390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to read — no synthesis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110740" y="3886200"/>
            <a:ext cx="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480560" y="259080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DD6F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587240" y="265176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Query Understanding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4587240" y="278892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context · intent · entities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6858000" y="263652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480560" y="303276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DD6F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87240" y="309372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Retrieval Agent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4587240" y="323088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· citation following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6858000" y="307848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088380" y="295656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480560" y="347472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DD6F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587240" y="353568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Reasoning Agent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4587240" y="367284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drawn only from evidence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6858000" y="352044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088380" y="339852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480560" y="391668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DD6FE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587240" y="397764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· Verification Agent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4587240" y="411480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↔ a retrieved chunk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6858000" y="396240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088380" y="384048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4480560" y="435864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DD6FE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587240" y="441960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· Response Agent</a:t>
            </a:r>
            <a:endParaRPr lang="en-US" sz="1050" dirty="0"/>
          </a:p>
        </p:txBody>
      </p:sp>
      <p:sp>
        <p:nvSpPr>
          <p:cNvPr id="85" name="Text 83"/>
          <p:cNvSpPr txBox="1"/>
          <p:nvPr/>
        </p:nvSpPr>
        <p:spPr>
          <a:xfrm>
            <a:off x="4587240" y="455676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citations · currency note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6858000" y="440436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088380" y="428244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8458200" y="259080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BBF7D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564880" y="265176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</a:t>
            </a:r>
            <a:endParaRPr lang="en-US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8564880" y="278892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PDF → facts &amp; entities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10835640" y="263652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8458200" y="303276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BBF7D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564880" y="309372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Agent</a:t>
            </a:r>
            <a:endParaRPr lang="en-US" sz="1050" dirty="0"/>
          </a:p>
        </p:txBody>
      </p:sp>
      <p:sp>
        <p:nvSpPr>
          <p:cNvPr id="94" name="Text 92"/>
          <p:cNvSpPr txBox="1"/>
          <p:nvPr/>
        </p:nvSpPr>
        <p:spPr>
          <a:xfrm>
            <a:off x="8564880" y="323088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· notice · petition</a:t>
            </a:r>
            <a:endParaRPr lang="en-US" sz="800" dirty="0"/>
          </a:p>
        </p:txBody>
      </p:sp>
      <p:sp>
        <p:nvSpPr>
          <p:cNvPr id="95" name="Text 93"/>
          <p:cNvSpPr txBox="1"/>
          <p:nvPr/>
        </p:nvSpPr>
        <p:spPr>
          <a:xfrm>
            <a:off x="10835640" y="307848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0066020" y="295656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8458200" y="347472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BBF7D0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8564880" y="353568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Builder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8564880" y="367284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against statutory clocks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10835640" y="352044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10066020" y="339852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8458200" y="391668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BBF7D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564880" y="397764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Defence</a:t>
            </a:r>
            <a:endParaRPr lang="en-US" sz="1050" dirty="0"/>
          </a:p>
        </p:txBody>
      </p:sp>
      <p:sp>
        <p:nvSpPr>
          <p:cNvPr id="104" name="Text 102"/>
          <p:cNvSpPr txBox="1"/>
          <p:nvPr/>
        </p:nvSpPr>
        <p:spPr>
          <a:xfrm>
            <a:off x="8564880" y="411480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BNSS duties · defence arguments</a:t>
            </a:r>
            <a:endParaRPr lang="en-US" sz="800" dirty="0"/>
          </a:p>
        </p:txBody>
      </p:sp>
      <p:sp>
        <p:nvSpPr>
          <p:cNvPr id="105" name="Text 103"/>
          <p:cNvSpPr txBox="1"/>
          <p:nvPr/>
        </p:nvSpPr>
        <p:spPr>
          <a:xfrm>
            <a:off x="10835640" y="396240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SVC+AGENT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10066020" y="384048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8458200" y="4358640"/>
            <a:ext cx="3215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BBF7D0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564880" y="4419600"/>
            <a:ext cx="3002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Agent</a:t>
            </a:r>
            <a:endParaRPr lang="en-US" sz="1050" dirty="0"/>
          </a:p>
        </p:txBody>
      </p:sp>
      <p:sp>
        <p:nvSpPr>
          <p:cNvPr id="109" name="Text 107"/>
          <p:cNvSpPr txBox="1"/>
          <p:nvPr/>
        </p:nvSpPr>
        <p:spPr>
          <a:xfrm>
            <a:off x="8564880" y="4556760"/>
            <a:ext cx="3002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· cite · export</a:t>
            </a:r>
            <a:endParaRPr lang="en-US" sz="800" dirty="0"/>
          </a:p>
        </p:txBody>
      </p:sp>
      <p:sp>
        <p:nvSpPr>
          <p:cNvPr id="110" name="Text 108"/>
          <p:cNvSpPr txBox="1"/>
          <p:nvPr/>
        </p:nvSpPr>
        <p:spPr>
          <a:xfrm>
            <a:off x="10835640" y="440436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0066020" y="4282440"/>
            <a:ext cx="0" cy="76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624840" y="4922520"/>
            <a:ext cx="3093720" cy="441960"/>
          </a:xfrm>
          <a:prstGeom prst="roundRect">
            <a:avLst>
              <a:gd name="adj" fmla="val 16552"/>
            </a:avLst>
          </a:prstGeom>
          <a:solidFill>
            <a:srgbClr val="FFFBEB"/>
          </a:solidFill>
          <a:ln w="13970">
            <a:solidFill>
              <a:srgbClr val="FCD34D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31520" y="5021580"/>
            <a:ext cx="28803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Ranked Passages</a:t>
            </a:r>
            <a:endParaRPr lang="en-US" sz="1050" dirty="0"/>
          </a:p>
        </p:txBody>
      </p:sp>
      <p:sp>
        <p:nvSpPr>
          <p:cNvPr id="114" name="Text 112"/>
          <p:cNvSpPr txBox="1"/>
          <p:nvPr/>
        </p:nvSpPr>
        <p:spPr>
          <a:xfrm>
            <a:off x="731520" y="5158740"/>
            <a:ext cx="2880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itself, for a professional to read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2110740" y="4800600"/>
            <a:ext cx="0" cy="121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4602480" y="4922520"/>
            <a:ext cx="3093720" cy="441960"/>
          </a:xfrm>
          <a:prstGeom prst="roundRect">
            <a:avLst>
              <a:gd name="adj" fmla="val 16552"/>
            </a:avLst>
          </a:prstGeom>
          <a:solidFill>
            <a:srgbClr val="FFFBEB"/>
          </a:solidFill>
          <a:ln w="13970">
            <a:solidFill>
              <a:srgbClr val="FCD34D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709160" y="5021580"/>
            <a:ext cx="28803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Search Answer</a:t>
            </a:r>
            <a:endParaRPr lang="en-US" sz="1050" dirty="0"/>
          </a:p>
        </p:txBody>
      </p:sp>
      <p:sp>
        <p:nvSpPr>
          <p:cNvPr id="118" name="Text 116"/>
          <p:cNvSpPr txBox="1"/>
          <p:nvPr/>
        </p:nvSpPr>
        <p:spPr>
          <a:xfrm>
            <a:off x="4709160" y="5158740"/>
            <a:ext cx="2880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citations · confidence · currency notice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6088380" y="4800600"/>
            <a:ext cx="0" cy="121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8580120" y="4922520"/>
            <a:ext cx="3093720" cy="441960"/>
          </a:xfrm>
          <a:prstGeom prst="roundRect">
            <a:avLst>
              <a:gd name="adj" fmla="val 16552"/>
            </a:avLst>
          </a:prstGeom>
          <a:solidFill>
            <a:srgbClr val="FFFBEB"/>
          </a:solidFill>
          <a:ln w="13970">
            <a:solidFill>
              <a:srgbClr val="FCD34D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686800" y="5021580"/>
            <a:ext cx="28803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Case Artefacts</a:t>
            </a:r>
            <a:endParaRPr lang="en-US" sz="1050" dirty="0"/>
          </a:p>
        </p:txBody>
      </p:sp>
      <p:sp>
        <p:nvSpPr>
          <p:cNvPr id="122" name="Text 120"/>
          <p:cNvSpPr txBox="1"/>
          <p:nvPr/>
        </p:nvSpPr>
        <p:spPr>
          <a:xfrm>
            <a:off x="8686800" y="5158740"/>
            <a:ext cx="2880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FIR · timeline · compliance report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10066020" y="4800600"/>
            <a:ext cx="0" cy="121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 flipH="1">
            <a:off x="182880" y="1630680"/>
            <a:ext cx="32461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182880" y="1630680"/>
            <a:ext cx="0" cy="41452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335280" y="5471160"/>
            <a:ext cx="11521440" cy="1082040"/>
          </a:xfrm>
          <a:prstGeom prst="roundRect">
            <a:avLst>
              <a:gd name="adj" fmla="val 84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457200" y="5532120"/>
            <a:ext cx="6858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 — every lane above reads the law through these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57200" y="5745480"/>
            <a:ext cx="176784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563880" y="5867400"/>
            <a:ext cx="15544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+ Validation</a:t>
            </a:r>
            <a:endParaRPr lang="en-US" sz="1050" dirty="0"/>
          </a:p>
        </p:txBody>
      </p:sp>
      <p:sp>
        <p:nvSpPr>
          <p:cNvPr id="130" name="Text 128"/>
          <p:cNvSpPr txBox="1"/>
          <p:nvPr/>
        </p:nvSpPr>
        <p:spPr>
          <a:xfrm>
            <a:off x="563880" y="6004560"/>
            <a:ext cx="15544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.gov.in publishers · 90 quarantined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2346960" y="5745480"/>
            <a:ext cx="176784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DDD6FE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2453640" y="5867400"/>
            <a:ext cx="15544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Job Worker</a:t>
            </a:r>
            <a:endParaRPr lang="en-US" sz="1050" dirty="0"/>
          </a:p>
        </p:txBody>
      </p:sp>
      <p:sp>
        <p:nvSpPr>
          <p:cNvPr id="133" name="Text 131"/>
          <p:cNvSpPr txBox="1"/>
          <p:nvPr/>
        </p:nvSpPr>
        <p:spPr>
          <a:xfrm>
            <a:off x="2453640" y="6004560"/>
            <a:ext cx="15544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chunk → embed · async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4236720" y="5745480"/>
            <a:ext cx="176784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DDD6FE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4343400" y="5867400"/>
            <a:ext cx="15544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1.18</a:t>
            </a:r>
            <a:endParaRPr lang="en-US" sz="1050" dirty="0"/>
          </a:p>
        </p:txBody>
      </p:sp>
      <p:sp>
        <p:nvSpPr>
          <p:cNvPr id="136" name="Text 134"/>
          <p:cNvSpPr txBox="1"/>
          <p:nvPr/>
        </p:nvSpPr>
        <p:spPr>
          <a:xfrm>
            <a:off x="4343400" y="6004560"/>
            <a:ext cx="15544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global_legal_corpus_v4 · 1,036 docs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6126480" y="5745480"/>
            <a:ext cx="176784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DDD6FE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6233160" y="5867400"/>
            <a:ext cx="15544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MinIO</a:t>
            </a:r>
            <a:endParaRPr lang="en-US" sz="1050" dirty="0"/>
          </a:p>
        </p:txBody>
      </p:sp>
      <p:sp>
        <p:nvSpPr>
          <p:cNvPr id="139" name="Text 137"/>
          <p:cNvSpPr txBox="1"/>
          <p:nvPr/>
        </p:nvSpPr>
        <p:spPr>
          <a:xfrm>
            <a:off x="6233160" y="6004560"/>
            <a:ext cx="15544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tables · audit · uploads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8016240" y="5745480"/>
            <a:ext cx="176784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99F6E4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8122920" y="5867400"/>
            <a:ext cx="15544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Concordance</a:t>
            </a:r>
            <a:endParaRPr lang="en-US" sz="1050" dirty="0"/>
          </a:p>
        </p:txBody>
      </p:sp>
      <p:sp>
        <p:nvSpPr>
          <p:cNvPr id="142" name="Text 140"/>
          <p:cNvSpPr txBox="1"/>
          <p:nvPr/>
        </p:nvSpPr>
        <p:spPr>
          <a:xfrm>
            <a:off x="8122920" y="6004560"/>
            <a:ext cx="15544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hybrid + RRF · IPC/CrPC → Sanhitas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9906000" y="5745480"/>
            <a:ext cx="176784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FCD34D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10012680" y="5867400"/>
            <a:ext cx="15544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 → LLMs</a:t>
            </a:r>
            <a:endParaRPr lang="en-US" sz="1050" dirty="0"/>
          </a:p>
        </p:txBody>
      </p:sp>
      <p:sp>
        <p:nvSpPr>
          <p:cNvPr id="145" name="Text 143"/>
          <p:cNvSpPr txBox="1"/>
          <p:nvPr/>
        </p:nvSpPr>
        <p:spPr>
          <a:xfrm>
            <a:off x="10012680" y="6004560"/>
            <a:ext cx="15544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NOT WIRED · Ollama ACTIVE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 flipV="1">
            <a:off x="449580" y="4770120"/>
            <a:ext cx="0" cy="701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7" name="Shape 145"/>
          <p:cNvSpPr/>
          <p:nvPr/>
        </p:nvSpPr>
        <p:spPr>
          <a:xfrm flipV="1">
            <a:off x="4427220" y="4770120"/>
            <a:ext cx="0" cy="701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8" name="Shape 146"/>
          <p:cNvSpPr/>
          <p:nvPr/>
        </p:nvSpPr>
        <p:spPr>
          <a:xfrm flipV="1">
            <a:off x="8404860" y="4770120"/>
            <a:ext cx="0" cy="701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9" name="Text 147"/>
          <p:cNvSpPr txBox="1"/>
          <p:nvPr/>
        </p:nvSpPr>
        <p:spPr>
          <a:xfrm>
            <a:off x="335280" y="6614160"/>
            <a:ext cx="115214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──▶   Retry / refusal ╬╬▶   AGENT = backend/app/agents/   ·   Fast calls no LLM (fast_research.py:408)   ·   Cross-encoder reranking OFF: +5,126 ms/query, no significant accuracy change (McNemar p≥0.50)   ·   Gemini NOT WIRED — Ollama qwen3-14b-16k serves every request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Corpusil System Architecture</dc:title>
  <dc:subject>PptxGenJS Presentation</dc:subject>
  <dc:creator>PptxGenJS</dc:creator>
  <cp:lastModifiedBy>PptxGenJS</cp:lastModifiedBy>
  <cp:revision>1</cp:revision>
  <dcterms:created xsi:type="dcterms:W3CDTF">2026-10-07T21:02:44Z</dcterms:created>
  <dcterms:modified xsi:type="dcterms:W3CDTF">2026-10-07T21:02:44Z</dcterms:modified>
</cp:coreProperties>
</file>