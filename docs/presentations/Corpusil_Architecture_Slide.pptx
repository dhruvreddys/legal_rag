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35280" y="121920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Corpusil — Multi-Agent Legal RAG Platform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335280" y="320040"/>
            <a:ext cx="83820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law · one request, three journeys, three outputs · 1,036 documents · 49,684 indexed passages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203960" y="502920"/>
            <a:ext cx="2286000" cy="381000"/>
          </a:xfrm>
          <a:prstGeom prst="roundRect">
            <a:avLst>
              <a:gd name="adj" fmla="val 19200"/>
            </a:avLst>
          </a:prstGeom>
          <a:solidFill>
            <a:srgbClr val="EFF6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10640" y="571500"/>
            <a:ext cx="2072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310640" y="708660"/>
            <a:ext cx="2072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only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03320" y="502920"/>
            <a:ext cx="2286000" cy="381000"/>
          </a:xfrm>
          <a:prstGeom prst="roundRect">
            <a:avLst>
              <a:gd name="adj" fmla="val 19200"/>
            </a:avLst>
          </a:prstGeom>
          <a:solidFill>
            <a:srgbClr val="EFF6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10000" y="571500"/>
            <a:ext cx="2072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810000" y="708660"/>
            <a:ext cx="2072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+ case tools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202680" y="502920"/>
            <a:ext cx="2286000" cy="381000"/>
          </a:xfrm>
          <a:prstGeom prst="roundRect">
            <a:avLst>
              <a:gd name="adj" fmla="val 19200"/>
            </a:avLst>
          </a:prstGeom>
          <a:solidFill>
            <a:srgbClr val="EFF6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571500"/>
            <a:ext cx="2072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Advocate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708660"/>
            <a:ext cx="2072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+ case tools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02040" y="502920"/>
            <a:ext cx="2286000" cy="381000"/>
          </a:xfrm>
          <a:prstGeom prst="roundRect">
            <a:avLst>
              <a:gd name="adj" fmla="val 19200"/>
            </a:avLst>
          </a:prstGeom>
          <a:solidFill>
            <a:srgbClr val="EFF6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08720" y="571500"/>
            <a:ext cx="2072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808720" y="708660"/>
            <a:ext cx="2072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· users · audit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203960" y="960120"/>
            <a:ext cx="978408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10640" y="998220"/>
            <a:ext cx="95707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— Web App  or  Desktop App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310640" y="1135380"/>
            <a:ext cx="957072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Next.js 14 / React 18 frontend · in a browser or in the Tauri shell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0" y="100584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ROLE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2346960" y="8839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846320" y="8839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45680" y="8839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845040" y="8839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429000" y="1371600"/>
            <a:ext cx="5334000" cy="33528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35680" y="1417320"/>
            <a:ext cx="5120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API Gateway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535680" y="1554480"/>
            <a:ext cx="5120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routers · JWT + RBAC · per-user rate limits · audit logs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96000" y="1280160"/>
            <a:ext cx="0" cy="91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118360" y="1889760"/>
            <a:ext cx="39624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25040" y="1927860"/>
            <a:ext cx="37490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Router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2225040" y="2065020"/>
            <a:ext cx="37490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FIRST — citizen → Deep · police / advocate → by complexity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242560" y="193548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8542020" y="1889760"/>
            <a:ext cx="30480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48700" y="1927860"/>
            <a:ext cx="2834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Dispatch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648700" y="2065020"/>
            <a:ext cx="2834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a case workspace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0751820" y="193548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/ ADVOCATE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 flipH="1">
            <a:off x="4099560" y="1706880"/>
            <a:ext cx="199644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096000" y="1706880"/>
            <a:ext cx="397002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35280" y="2286000"/>
            <a:ext cx="3550920" cy="2514600"/>
          </a:xfrm>
          <a:prstGeom prst="roundRect">
            <a:avLst>
              <a:gd name="adj" fmla="val 363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2346960"/>
            <a:ext cx="33070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LANE · source inspection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12920" y="2286000"/>
            <a:ext cx="3550920" cy="2514600"/>
          </a:xfrm>
          <a:prstGeom prst="roundRect">
            <a:avLst>
              <a:gd name="adj" fmla="val 3636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434840" y="2346960"/>
            <a:ext cx="33070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LANE · agent pipeline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290560" y="2286000"/>
            <a:ext cx="3550920" cy="2514600"/>
          </a:xfrm>
          <a:prstGeom prst="roundRect">
            <a:avLst>
              <a:gd name="adj" fmla="val 3636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412480" y="2346960"/>
            <a:ext cx="33070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AGENTS · police &amp; advocate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 flipH="1">
            <a:off x="2110740" y="2209800"/>
            <a:ext cx="198882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4099560" y="2209800"/>
            <a:ext cx="198882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0066020" y="220980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502920" y="2545080"/>
            <a:ext cx="3215640" cy="441960"/>
          </a:xfrm>
          <a:prstGeom prst="roundRect">
            <a:avLst>
              <a:gd name="adj" fmla="val 16552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09600" y="264414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· Hybrid Search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609600" y="278130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(BGE-M3) · RRF fusion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02920" y="3429000"/>
            <a:ext cx="3215640" cy="441960"/>
          </a:xfrm>
          <a:prstGeom prst="roundRect">
            <a:avLst>
              <a:gd name="adj" fmla="val 16552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09600" y="352806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· Coverage Gate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609600" y="366522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abstains when nothing is on point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2110740" y="2987040"/>
            <a:ext cx="0" cy="4419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502920" y="4312920"/>
            <a:ext cx="3215640" cy="441960"/>
          </a:xfrm>
          <a:prstGeom prst="roundRect">
            <a:avLst>
              <a:gd name="adj" fmla="val 16552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09600" y="441198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· Ranked Passages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609600" y="454914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to read — no synthesis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2110740" y="3870960"/>
            <a:ext cx="0" cy="4419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480560" y="254508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87240" y="260604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· Query Understanding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587240" y="274320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context · intent · entities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4480560" y="298704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87240" y="304800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· Retrieval Agent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4587240" y="318516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 BGE-v2-m3 · citation following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6088380" y="291084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4480560" y="342900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87240" y="348996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· Reasoning Agent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4587240" y="362712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drawn only from evidence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088380" y="335280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4480560" y="387096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587240" y="393192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· Verification Agent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4587240" y="406908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↔ a retrieved chunk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6088380" y="379476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4480560" y="431292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4587240" y="437388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 · Response Agent</a:t>
            </a:r>
            <a:endParaRPr lang="en-US" sz="1050" dirty="0"/>
          </a:p>
        </p:txBody>
      </p:sp>
      <p:sp>
        <p:nvSpPr>
          <p:cNvPr id="75" name="Text 73"/>
          <p:cNvSpPr txBox="1"/>
          <p:nvPr/>
        </p:nvSpPr>
        <p:spPr>
          <a:xfrm>
            <a:off x="4587240" y="451104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· citations · currency note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6088380" y="42367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8458200" y="254508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564880" y="260604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Analysis Agent</a:t>
            </a:r>
            <a:endParaRPr lang="en-US" sz="1050" dirty="0"/>
          </a:p>
        </p:txBody>
      </p:sp>
      <p:sp>
        <p:nvSpPr>
          <p:cNvPr id="79" name="Text 77"/>
          <p:cNvSpPr txBox="1"/>
          <p:nvPr/>
        </p:nvSpPr>
        <p:spPr>
          <a:xfrm>
            <a:off x="8564880" y="274320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uploaded PDF → facts &amp; entities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8458200" y="298704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564880" y="304800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Agent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8564880" y="318516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 · notice · petition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10066020" y="291084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458200" y="342900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564880" y="348996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Agent</a:t>
            </a:r>
            <a:endParaRPr lang="en-US" sz="1050" dirty="0"/>
          </a:p>
        </p:txBody>
      </p:sp>
      <p:sp>
        <p:nvSpPr>
          <p:cNvPr id="86" name="Text 84"/>
          <p:cNvSpPr txBox="1"/>
          <p:nvPr/>
        </p:nvSpPr>
        <p:spPr>
          <a:xfrm>
            <a:off x="8564880" y="362712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against statutory clocks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10066020" y="335280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8458200" y="387096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8564880" y="393192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+ Defence Agents</a:t>
            </a:r>
            <a:endParaRPr lang="en-US" sz="1050" dirty="0"/>
          </a:p>
        </p:txBody>
      </p:sp>
      <p:sp>
        <p:nvSpPr>
          <p:cNvPr id="90" name="Text 88"/>
          <p:cNvSpPr txBox="1"/>
          <p:nvPr/>
        </p:nvSpPr>
        <p:spPr>
          <a:xfrm>
            <a:off x="8564880" y="406908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BNSS duties · defence arguments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10066020" y="379476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8458200" y="431292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8564880" y="437388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Agent</a:t>
            </a:r>
            <a:endParaRPr lang="en-US" sz="1050" dirty="0"/>
          </a:p>
        </p:txBody>
      </p:sp>
      <p:sp>
        <p:nvSpPr>
          <p:cNvPr id="94" name="Text 92"/>
          <p:cNvSpPr txBox="1"/>
          <p:nvPr/>
        </p:nvSpPr>
        <p:spPr>
          <a:xfrm>
            <a:off x="8564880" y="451104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· cite · export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10066020" y="42367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6" name="Shape 94"/>
          <p:cNvSpPr/>
          <p:nvPr/>
        </p:nvSpPr>
        <p:spPr>
          <a:xfrm>
            <a:off x="624840" y="4922520"/>
            <a:ext cx="3093720" cy="441960"/>
          </a:xfrm>
          <a:prstGeom prst="roundRect">
            <a:avLst>
              <a:gd name="adj" fmla="val 16552"/>
            </a:avLst>
          </a:prstGeom>
          <a:solidFill>
            <a:srgbClr val="FFFBEB"/>
          </a:solidFill>
          <a:ln w="13970">
            <a:solidFill>
              <a:srgbClr val="FCD34D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31520" y="5021580"/>
            <a:ext cx="28803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· Ranked Passages</a:t>
            </a:r>
            <a:endParaRPr lang="en-US" sz="1050" dirty="0"/>
          </a:p>
        </p:txBody>
      </p:sp>
      <p:sp>
        <p:nvSpPr>
          <p:cNvPr id="98" name="Text 96"/>
          <p:cNvSpPr txBox="1"/>
          <p:nvPr/>
        </p:nvSpPr>
        <p:spPr>
          <a:xfrm>
            <a:off x="731520" y="5158740"/>
            <a:ext cx="288036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authority itself, for a professional to read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2110740" y="4800600"/>
            <a:ext cx="0" cy="1219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0" name="Shape 98"/>
          <p:cNvSpPr/>
          <p:nvPr/>
        </p:nvSpPr>
        <p:spPr>
          <a:xfrm>
            <a:off x="4602480" y="4922520"/>
            <a:ext cx="3093720" cy="441960"/>
          </a:xfrm>
          <a:prstGeom prst="roundRect">
            <a:avLst>
              <a:gd name="adj" fmla="val 16552"/>
            </a:avLst>
          </a:prstGeom>
          <a:solidFill>
            <a:srgbClr val="FFFBEB"/>
          </a:solidFill>
          <a:ln w="13970">
            <a:solidFill>
              <a:srgbClr val="FCD34D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4709160" y="5021580"/>
            <a:ext cx="28803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· Search Answer</a:t>
            </a:r>
            <a:endParaRPr lang="en-US" sz="1050" dirty="0"/>
          </a:p>
        </p:txBody>
      </p:sp>
      <p:sp>
        <p:nvSpPr>
          <p:cNvPr id="102" name="Text 100"/>
          <p:cNvSpPr txBox="1"/>
          <p:nvPr/>
        </p:nvSpPr>
        <p:spPr>
          <a:xfrm>
            <a:off x="4709160" y="5158740"/>
            <a:ext cx="288036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citations · confidence · currency notice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6088380" y="4800600"/>
            <a:ext cx="0" cy="1219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8580120" y="4922520"/>
            <a:ext cx="3093720" cy="441960"/>
          </a:xfrm>
          <a:prstGeom prst="roundRect">
            <a:avLst>
              <a:gd name="adj" fmla="val 16552"/>
            </a:avLst>
          </a:prstGeom>
          <a:solidFill>
            <a:srgbClr val="FFFBEB"/>
          </a:solidFill>
          <a:ln w="13970">
            <a:solidFill>
              <a:srgbClr val="FCD34D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686800" y="5021580"/>
            <a:ext cx="28803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· Case Artefacts</a:t>
            </a:r>
            <a:endParaRPr lang="en-US" sz="1050" dirty="0"/>
          </a:p>
        </p:txBody>
      </p:sp>
      <p:sp>
        <p:nvSpPr>
          <p:cNvPr id="106" name="Text 104"/>
          <p:cNvSpPr txBox="1"/>
          <p:nvPr/>
        </p:nvSpPr>
        <p:spPr>
          <a:xfrm>
            <a:off x="8686800" y="5158740"/>
            <a:ext cx="288036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 FIR · timeline · compliance report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10066020" y="4800600"/>
            <a:ext cx="0" cy="1219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335280" y="5471160"/>
            <a:ext cx="11521440" cy="1082040"/>
          </a:xfrm>
          <a:prstGeom prst="roundRect">
            <a:avLst>
              <a:gd name="adj" fmla="val 84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457200" y="5532120"/>
            <a:ext cx="68580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FOUNDATION — every lane above reads the law through these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45720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56388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</a:t>
            </a:r>
            <a:endParaRPr lang="en-US" sz="1050" dirty="0"/>
          </a:p>
        </p:txBody>
      </p:sp>
      <p:sp>
        <p:nvSpPr>
          <p:cNvPr id="112" name="Text 110"/>
          <p:cNvSpPr txBox="1"/>
          <p:nvPr/>
        </p:nvSpPr>
        <p:spPr>
          <a:xfrm>
            <a:off x="56388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Code · High Courts · NALSA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234696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245364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+ Job Worker</a:t>
            </a:r>
            <a:endParaRPr lang="en-US" sz="1050" dirty="0"/>
          </a:p>
        </p:txBody>
      </p:sp>
      <p:sp>
        <p:nvSpPr>
          <p:cNvPr id="115" name="Text 113"/>
          <p:cNvSpPr txBox="1"/>
          <p:nvPr/>
        </p:nvSpPr>
        <p:spPr>
          <a:xfrm>
            <a:off x="245364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→ chunk → embed · async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423672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34340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Qdrant 1.18</a:t>
            </a:r>
            <a:endParaRPr lang="en-US" sz="1050" dirty="0"/>
          </a:p>
        </p:txBody>
      </p:sp>
      <p:sp>
        <p:nvSpPr>
          <p:cNvPr id="118" name="Text 116"/>
          <p:cNvSpPr txBox="1"/>
          <p:nvPr/>
        </p:nvSpPr>
        <p:spPr>
          <a:xfrm>
            <a:off x="434340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1,036 docs · 49,684 passages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612648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3316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· MinIO</a:t>
            </a:r>
            <a:endParaRPr lang="en-US" sz="1050" dirty="0"/>
          </a:p>
        </p:txBody>
      </p:sp>
      <p:sp>
        <p:nvSpPr>
          <p:cNvPr id="121" name="Text 119"/>
          <p:cNvSpPr txBox="1"/>
          <p:nvPr/>
        </p:nvSpPr>
        <p:spPr>
          <a:xfrm>
            <a:off x="623316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tables · audit · uploads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801624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812292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Concordance</a:t>
            </a:r>
            <a:endParaRPr lang="en-US" sz="1050" dirty="0"/>
          </a:p>
        </p:txBody>
      </p:sp>
      <p:sp>
        <p:nvSpPr>
          <p:cNvPr id="124" name="Text 122"/>
          <p:cNvSpPr txBox="1"/>
          <p:nvPr/>
        </p:nvSpPr>
        <p:spPr>
          <a:xfrm>
            <a:off x="812292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IPC/CrPC/IEA → Sanhitas</a:t>
            </a:r>
            <a:endParaRPr lang="en-US" sz="800" dirty="0"/>
          </a:p>
        </p:txBody>
      </p:sp>
      <p:sp>
        <p:nvSpPr>
          <p:cNvPr id="125" name="Shape 123"/>
          <p:cNvSpPr/>
          <p:nvPr/>
        </p:nvSpPr>
        <p:spPr>
          <a:xfrm>
            <a:off x="990600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FCD34D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01268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Router → LLMs</a:t>
            </a:r>
            <a:endParaRPr lang="en-US" sz="1050" dirty="0"/>
          </a:p>
        </p:txBody>
      </p:sp>
      <p:sp>
        <p:nvSpPr>
          <p:cNvPr id="127" name="Text 125"/>
          <p:cNvSpPr txBox="1"/>
          <p:nvPr/>
        </p:nvSpPr>
        <p:spPr>
          <a:xfrm>
            <a:off x="1001268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NOT WIRED · Ollama ACTIVE</a:t>
            </a:r>
            <a:endParaRPr lang="en-US" sz="800" dirty="0"/>
          </a:p>
        </p:txBody>
      </p:sp>
      <p:sp>
        <p:nvSpPr>
          <p:cNvPr id="128" name="Shape 126"/>
          <p:cNvSpPr/>
          <p:nvPr/>
        </p:nvSpPr>
        <p:spPr>
          <a:xfrm flipV="1">
            <a:off x="449580" y="4770120"/>
            <a:ext cx="0" cy="7010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 flipV="1">
            <a:off x="4427220" y="4770120"/>
            <a:ext cx="0" cy="7010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0" name="Shape 128"/>
          <p:cNvSpPr/>
          <p:nvPr/>
        </p:nvSpPr>
        <p:spPr>
          <a:xfrm flipV="1">
            <a:off x="8404860" y="4770120"/>
            <a:ext cx="0" cy="7010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1" name="Text 129"/>
          <p:cNvSpPr txBox="1"/>
          <p:nvPr/>
        </p:nvSpPr>
        <p:spPr>
          <a:xfrm>
            <a:off x="335280" y="6614160"/>
            <a:ext cx="115214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──▶    Retry / refusal ╌╌▶    Gemini Flash is configured first and is NOT WIRED yet; Ollama qwen3-14b-16k serves every request today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Corpusil System Architecture</dc:title>
  <dc:subject>PptxGenJS Presentation</dc:subject>
  <dc:creator>PptxGenJS</dc:creator>
  <cp:lastModifiedBy>PptxGenJS</cp:lastModifiedBy>
  <cp:revision>1</cp:revision>
  <dcterms:created xsi:type="dcterms:W3CDTF">2026-10-07T20:32:34Z</dcterms:created>
  <dcterms:modified xsi:type="dcterms:W3CDTF">2026-10-07T20:32:34Z</dcterms:modified>
</cp:coreProperties>
</file>