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35280" y="121920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Corpusil — Multi-Agent Legal RAG Platform</a:t>
            </a:r>
            <a:endParaRPr lang="en-US" sz="1900" dirty="0"/>
          </a:p>
        </p:txBody>
      </p:sp>
      <p:sp>
        <p:nvSpPr>
          <p:cNvPr id="3" name="Text 1"/>
          <p:cNvSpPr txBox="1"/>
          <p:nvPr/>
        </p:nvSpPr>
        <p:spPr>
          <a:xfrm>
            <a:off x="335280" y="320040"/>
            <a:ext cx="838200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law · one request, three journeys, three outputs · 1,036 documents · 49,684 indexed passages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203960" y="502920"/>
            <a:ext cx="2286000" cy="381000"/>
          </a:xfrm>
          <a:prstGeom prst="roundRect">
            <a:avLst>
              <a:gd name="adj" fmla="val 19200"/>
            </a:avLst>
          </a:prstGeom>
          <a:solidFill>
            <a:srgbClr val="EFF6FF"/>
          </a:solidFill>
          <a:ln w="13970">
            <a:solidFill>
              <a:srgbClr val="BFDBF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10640" y="571500"/>
            <a:ext cx="207264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310640" y="708660"/>
            <a:ext cx="207264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only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703320" y="502920"/>
            <a:ext cx="2286000" cy="381000"/>
          </a:xfrm>
          <a:prstGeom prst="roundRect">
            <a:avLst>
              <a:gd name="adj" fmla="val 19200"/>
            </a:avLst>
          </a:prstGeom>
          <a:solidFill>
            <a:srgbClr val="EFF6FF"/>
          </a:solidFill>
          <a:ln w="13970">
            <a:solidFill>
              <a:srgbClr val="BFDBF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810000" y="571500"/>
            <a:ext cx="207264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Police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3810000" y="708660"/>
            <a:ext cx="207264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+ case tools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6202680" y="502920"/>
            <a:ext cx="2286000" cy="381000"/>
          </a:xfrm>
          <a:prstGeom prst="roundRect">
            <a:avLst>
              <a:gd name="adj" fmla="val 19200"/>
            </a:avLst>
          </a:prstGeom>
          <a:solidFill>
            <a:srgbClr val="EFF6FF"/>
          </a:solidFill>
          <a:ln w="13970">
            <a:solidFill>
              <a:srgbClr val="BFDBF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09360" y="571500"/>
            <a:ext cx="207264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Advocate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708660"/>
            <a:ext cx="207264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+ case tools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702040" y="502920"/>
            <a:ext cx="2286000" cy="381000"/>
          </a:xfrm>
          <a:prstGeom prst="roundRect">
            <a:avLst>
              <a:gd name="adj" fmla="val 19200"/>
            </a:avLst>
          </a:prstGeom>
          <a:solidFill>
            <a:srgbClr val="EFF6FF"/>
          </a:solidFill>
          <a:ln w="13970">
            <a:solidFill>
              <a:srgbClr val="BFDBF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808720" y="571500"/>
            <a:ext cx="207264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8808720" y="708660"/>
            <a:ext cx="207264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· users · audit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203960" y="960120"/>
            <a:ext cx="9784080" cy="320040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13970">
            <a:solidFill>
              <a:srgbClr val="BFDBF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310640" y="998220"/>
            <a:ext cx="957072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— Web App  or  Desktop App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310640" y="1135380"/>
            <a:ext cx="957072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Next.js 14 / React 18 frontend · in a browser or in the Tauri shell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10149840" y="1005840"/>
            <a:ext cx="76200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ROLE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2346960" y="883920"/>
            <a:ext cx="0" cy="7620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4846320" y="883920"/>
            <a:ext cx="0" cy="7620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7345680" y="883920"/>
            <a:ext cx="0" cy="7620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9845040" y="883920"/>
            <a:ext cx="0" cy="7620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3429000" y="1371600"/>
            <a:ext cx="5334000" cy="33528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3970">
            <a:solidFill>
              <a:srgbClr val="99F6E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535680" y="1417320"/>
            <a:ext cx="512064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API Gateway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3535680" y="1554480"/>
            <a:ext cx="512064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routers · JWT + RBAC · per-user rate limits · audit logs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096000" y="1280160"/>
            <a:ext cx="0" cy="9144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2118360" y="1889760"/>
            <a:ext cx="3962400" cy="320040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13970">
            <a:solidFill>
              <a:srgbClr val="99F6E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225040" y="1927860"/>
            <a:ext cx="374904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Router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2225040" y="2065020"/>
            <a:ext cx="374904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FIRST — citizen → Deep · police / advocate → by complexity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5242560" y="1935480"/>
            <a:ext cx="76200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LLM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8542020" y="1889760"/>
            <a:ext cx="3048000" cy="320040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13970">
            <a:solidFill>
              <a:srgbClr val="BBF7D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648700" y="1927860"/>
            <a:ext cx="283464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&amp; Investigation Routers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8648700" y="2065020"/>
            <a:ext cx="283464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· investigation · document_analysis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10751820" y="1935480"/>
            <a:ext cx="76200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POLICE / ADVOCATE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 flipH="1">
            <a:off x="4099560" y="1706880"/>
            <a:ext cx="1996440" cy="18288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6096000" y="1706880"/>
            <a:ext cx="3970020" cy="18288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335280" y="2286000"/>
            <a:ext cx="3550920" cy="2514600"/>
          </a:xfrm>
          <a:prstGeom prst="roundRect">
            <a:avLst>
              <a:gd name="adj" fmla="val 3636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57200" y="2346960"/>
            <a:ext cx="202692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LANE · source inspection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2362200" y="2346960"/>
            <a:ext cx="141732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LLM · NO RERANK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312920" y="2286000"/>
            <a:ext cx="3550920" cy="2514600"/>
          </a:xfrm>
          <a:prstGeom prst="roundRect">
            <a:avLst>
              <a:gd name="adj" fmla="val 3636"/>
            </a:avLst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434840" y="2346960"/>
            <a:ext cx="202692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LANE · agent pipeline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6339840" y="2346960"/>
            <a:ext cx="141732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· 5 AGENTS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8290560" y="2286000"/>
            <a:ext cx="3550920" cy="2514600"/>
          </a:xfrm>
          <a:prstGeom prst="roundRect">
            <a:avLst>
              <a:gd name="adj" fmla="val 3636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412480" y="2346960"/>
            <a:ext cx="202692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&amp; INVESTIGATION · police &amp; advocate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10317480" y="2346960"/>
            <a:ext cx="141732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AGENTS · 2 SERVICES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 flipH="1">
            <a:off x="2110740" y="2209800"/>
            <a:ext cx="1988820" cy="7620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4099560" y="2209800"/>
            <a:ext cx="1988820" cy="7620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10066020" y="2209800"/>
            <a:ext cx="0" cy="7620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502920" y="2545080"/>
            <a:ext cx="3215640" cy="441960"/>
          </a:xfrm>
          <a:prstGeom prst="roundRect">
            <a:avLst>
              <a:gd name="adj" fmla="val 16552"/>
            </a:avLst>
          </a:prstGeom>
          <a:solidFill>
            <a:srgbClr val="FFFFFF"/>
          </a:solidFill>
          <a:ln w="13970">
            <a:solidFill>
              <a:srgbClr val="99F6E4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09600" y="2644140"/>
            <a:ext cx="300228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· Hybrid Search</a:t>
            </a:r>
            <a:endParaRPr lang="en-US" sz="1050" dirty="0"/>
          </a:p>
        </p:txBody>
      </p:sp>
      <p:sp>
        <p:nvSpPr>
          <p:cNvPr id="52" name="Text 50"/>
          <p:cNvSpPr txBox="1"/>
          <p:nvPr/>
        </p:nvSpPr>
        <p:spPr>
          <a:xfrm>
            <a:off x="609600" y="2781300"/>
            <a:ext cx="300228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+ sparse (BGE-M3) · RRF fusion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502920" y="3429000"/>
            <a:ext cx="3215640" cy="441960"/>
          </a:xfrm>
          <a:prstGeom prst="roundRect">
            <a:avLst>
              <a:gd name="adj" fmla="val 16552"/>
            </a:avLst>
          </a:prstGeom>
          <a:solidFill>
            <a:srgbClr val="FFFFFF"/>
          </a:solidFill>
          <a:ln w="13970">
            <a:solidFill>
              <a:srgbClr val="99F6E4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09600" y="3528060"/>
            <a:ext cx="300228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F2 · Coverage Gate</a:t>
            </a:r>
            <a:endParaRPr lang="en-US" sz="1050" dirty="0"/>
          </a:p>
        </p:txBody>
      </p:sp>
      <p:sp>
        <p:nvSpPr>
          <p:cNvPr id="55" name="Text 53"/>
          <p:cNvSpPr txBox="1"/>
          <p:nvPr/>
        </p:nvSpPr>
        <p:spPr>
          <a:xfrm>
            <a:off x="609600" y="3665220"/>
            <a:ext cx="300228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abstains when nothing is on point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2110740" y="2987040"/>
            <a:ext cx="0" cy="44196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57" name="Shape 55"/>
          <p:cNvSpPr/>
          <p:nvPr/>
        </p:nvSpPr>
        <p:spPr>
          <a:xfrm>
            <a:off x="502920" y="4312920"/>
            <a:ext cx="3215640" cy="441960"/>
          </a:xfrm>
          <a:prstGeom prst="roundRect">
            <a:avLst>
              <a:gd name="adj" fmla="val 16552"/>
            </a:avLst>
          </a:prstGeom>
          <a:solidFill>
            <a:srgbClr val="FFFFFF"/>
          </a:solidFill>
          <a:ln w="13970">
            <a:solidFill>
              <a:srgbClr val="99F6E4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09600" y="4411980"/>
            <a:ext cx="300228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F3 · Ranked Passages</a:t>
            </a:r>
            <a:endParaRPr lang="en-US" sz="1050" dirty="0"/>
          </a:p>
        </p:txBody>
      </p:sp>
      <p:sp>
        <p:nvSpPr>
          <p:cNvPr id="59" name="Text 57"/>
          <p:cNvSpPr txBox="1"/>
          <p:nvPr/>
        </p:nvSpPr>
        <p:spPr>
          <a:xfrm>
            <a:off x="609600" y="4549140"/>
            <a:ext cx="300228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 to read — no synthesis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2110740" y="3870960"/>
            <a:ext cx="0" cy="44196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61" name="Shape 59"/>
          <p:cNvSpPr/>
          <p:nvPr/>
        </p:nvSpPr>
        <p:spPr>
          <a:xfrm>
            <a:off x="4480560" y="2545080"/>
            <a:ext cx="321564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3970">
            <a:solidFill>
              <a:srgbClr val="DDD6FE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4587240" y="2606040"/>
            <a:ext cx="300228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 · Query Understanding</a:t>
            </a:r>
            <a:endParaRPr lang="en-US" sz="1050" dirty="0"/>
          </a:p>
        </p:txBody>
      </p:sp>
      <p:sp>
        <p:nvSpPr>
          <p:cNvPr id="63" name="Text 61"/>
          <p:cNvSpPr txBox="1"/>
          <p:nvPr/>
        </p:nvSpPr>
        <p:spPr>
          <a:xfrm>
            <a:off x="4587240" y="2743200"/>
            <a:ext cx="300228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context · intent · entities</a:t>
            </a:r>
            <a:endParaRPr lang="en-US" sz="800" dirty="0"/>
          </a:p>
        </p:txBody>
      </p:sp>
      <p:sp>
        <p:nvSpPr>
          <p:cNvPr id="64" name="Text 62"/>
          <p:cNvSpPr txBox="1"/>
          <p:nvPr/>
        </p:nvSpPr>
        <p:spPr>
          <a:xfrm>
            <a:off x="6858000" y="2590800"/>
            <a:ext cx="76200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700" dirty="0"/>
          </a:p>
        </p:txBody>
      </p:sp>
      <p:sp>
        <p:nvSpPr>
          <p:cNvPr id="65" name="Shape 63"/>
          <p:cNvSpPr/>
          <p:nvPr/>
        </p:nvSpPr>
        <p:spPr>
          <a:xfrm>
            <a:off x="4480560" y="2987040"/>
            <a:ext cx="321564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3970">
            <a:solidFill>
              <a:srgbClr val="DDD6FE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4587240" y="3048000"/>
            <a:ext cx="300228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 · Retrieval Agent</a:t>
            </a:r>
            <a:endParaRPr lang="en-US" sz="1050" dirty="0"/>
          </a:p>
        </p:txBody>
      </p:sp>
      <p:sp>
        <p:nvSpPr>
          <p:cNvPr id="67" name="Text 65"/>
          <p:cNvSpPr txBox="1"/>
          <p:nvPr/>
        </p:nvSpPr>
        <p:spPr>
          <a:xfrm>
            <a:off x="4587240" y="3185160"/>
            <a:ext cx="300228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search · citation following</a:t>
            </a:r>
            <a:endParaRPr lang="en-US" sz="800" dirty="0"/>
          </a:p>
        </p:txBody>
      </p:sp>
      <p:sp>
        <p:nvSpPr>
          <p:cNvPr id="68" name="Text 66"/>
          <p:cNvSpPr txBox="1"/>
          <p:nvPr/>
        </p:nvSpPr>
        <p:spPr>
          <a:xfrm>
            <a:off x="6858000" y="3032760"/>
            <a:ext cx="76200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700" dirty="0"/>
          </a:p>
        </p:txBody>
      </p:sp>
      <p:sp>
        <p:nvSpPr>
          <p:cNvPr id="69" name="Shape 67"/>
          <p:cNvSpPr/>
          <p:nvPr/>
        </p:nvSpPr>
        <p:spPr>
          <a:xfrm>
            <a:off x="6088380" y="2910840"/>
            <a:ext cx="0" cy="7620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70" name="Shape 68"/>
          <p:cNvSpPr/>
          <p:nvPr/>
        </p:nvSpPr>
        <p:spPr>
          <a:xfrm>
            <a:off x="4480560" y="3429000"/>
            <a:ext cx="321564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3970">
            <a:solidFill>
              <a:srgbClr val="DDD6FE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4587240" y="3489960"/>
            <a:ext cx="300228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 · Reasoning Agent</a:t>
            </a:r>
            <a:endParaRPr lang="en-US" sz="1050" dirty="0"/>
          </a:p>
        </p:txBody>
      </p:sp>
      <p:sp>
        <p:nvSpPr>
          <p:cNvPr id="72" name="Text 70"/>
          <p:cNvSpPr txBox="1"/>
          <p:nvPr/>
        </p:nvSpPr>
        <p:spPr>
          <a:xfrm>
            <a:off x="4587240" y="3627120"/>
            <a:ext cx="300228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 drawn only from evidence</a:t>
            </a:r>
            <a:endParaRPr lang="en-US" sz="800" dirty="0"/>
          </a:p>
        </p:txBody>
      </p:sp>
      <p:sp>
        <p:nvSpPr>
          <p:cNvPr id="73" name="Text 71"/>
          <p:cNvSpPr txBox="1"/>
          <p:nvPr/>
        </p:nvSpPr>
        <p:spPr>
          <a:xfrm>
            <a:off x="6858000" y="3474720"/>
            <a:ext cx="76200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700" dirty="0"/>
          </a:p>
        </p:txBody>
      </p:sp>
      <p:sp>
        <p:nvSpPr>
          <p:cNvPr id="74" name="Shape 72"/>
          <p:cNvSpPr/>
          <p:nvPr/>
        </p:nvSpPr>
        <p:spPr>
          <a:xfrm>
            <a:off x="6088380" y="3352800"/>
            <a:ext cx="0" cy="7620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75" name="Shape 73"/>
          <p:cNvSpPr/>
          <p:nvPr/>
        </p:nvSpPr>
        <p:spPr>
          <a:xfrm>
            <a:off x="4480560" y="3870960"/>
            <a:ext cx="321564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3970">
            <a:solidFill>
              <a:srgbClr val="DDD6FE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4587240" y="3931920"/>
            <a:ext cx="300228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D4 · Verification Agent</a:t>
            </a:r>
            <a:endParaRPr lang="en-US" sz="1050" dirty="0"/>
          </a:p>
        </p:txBody>
      </p:sp>
      <p:sp>
        <p:nvSpPr>
          <p:cNvPr id="77" name="Text 75"/>
          <p:cNvSpPr txBox="1"/>
          <p:nvPr/>
        </p:nvSpPr>
        <p:spPr>
          <a:xfrm>
            <a:off x="4587240" y="4069080"/>
            <a:ext cx="300228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↔ a retrieved chunk</a:t>
            </a:r>
            <a:endParaRPr lang="en-US" sz="800" dirty="0"/>
          </a:p>
        </p:txBody>
      </p:sp>
      <p:sp>
        <p:nvSpPr>
          <p:cNvPr id="78" name="Text 76"/>
          <p:cNvSpPr txBox="1"/>
          <p:nvPr/>
        </p:nvSpPr>
        <p:spPr>
          <a:xfrm>
            <a:off x="6858000" y="3916680"/>
            <a:ext cx="76200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700" dirty="0"/>
          </a:p>
        </p:txBody>
      </p:sp>
      <p:sp>
        <p:nvSpPr>
          <p:cNvPr id="79" name="Shape 77"/>
          <p:cNvSpPr/>
          <p:nvPr/>
        </p:nvSpPr>
        <p:spPr>
          <a:xfrm>
            <a:off x="6088380" y="3794760"/>
            <a:ext cx="0" cy="7620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80" name="Shape 78"/>
          <p:cNvSpPr/>
          <p:nvPr/>
        </p:nvSpPr>
        <p:spPr>
          <a:xfrm>
            <a:off x="4480560" y="4312920"/>
            <a:ext cx="321564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3970">
            <a:solidFill>
              <a:srgbClr val="DDD6FE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4587240" y="4373880"/>
            <a:ext cx="300228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D5 · Response Agent</a:t>
            </a:r>
            <a:endParaRPr lang="en-US" sz="1050" dirty="0"/>
          </a:p>
        </p:txBody>
      </p:sp>
      <p:sp>
        <p:nvSpPr>
          <p:cNvPr id="82" name="Text 80"/>
          <p:cNvSpPr txBox="1"/>
          <p:nvPr/>
        </p:nvSpPr>
        <p:spPr>
          <a:xfrm>
            <a:off x="4587240" y="4511040"/>
            <a:ext cx="300228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· citations · currency note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6858000" y="4358640"/>
            <a:ext cx="76200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700" dirty="0"/>
          </a:p>
        </p:txBody>
      </p:sp>
      <p:sp>
        <p:nvSpPr>
          <p:cNvPr id="84" name="Shape 82"/>
          <p:cNvSpPr/>
          <p:nvPr/>
        </p:nvSpPr>
        <p:spPr>
          <a:xfrm>
            <a:off x="6088380" y="4236720"/>
            <a:ext cx="0" cy="7620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85" name="Shape 83"/>
          <p:cNvSpPr/>
          <p:nvPr/>
        </p:nvSpPr>
        <p:spPr>
          <a:xfrm>
            <a:off x="8458200" y="2545080"/>
            <a:ext cx="321564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3970">
            <a:solidFill>
              <a:srgbClr val="BBF7D0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8564880" y="2606040"/>
            <a:ext cx="300228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Analysis</a:t>
            </a:r>
            <a:endParaRPr lang="en-US" sz="1050" dirty="0"/>
          </a:p>
        </p:txBody>
      </p:sp>
      <p:sp>
        <p:nvSpPr>
          <p:cNvPr id="87" name="Text 85"/>
          <p:cNvSpPr txBox="1"/>
          <p:nvPr/>
        </p:nvSpPr>
        <p:spPr>
          <a:xfrm>
            <a:off x="8564880" y="2743200"/>
            <a:ext cx="300228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uploaded PDF → facts &amp; entities</a:t>
            </a:r>
            <a:endParaRPr lang="en-US" sz="800" dirty="0"/>
          </a:p>
        </p:txBody>
      </p:sp>
      <p:sp>
        <p:nvSpPr>
          <p:cNvPr id="88" name="Text 86"/>
          <p:cNvSpPr txBox="1"/>
          <p:nvPr/>
        </p:nvSpPr>
        <p:spPr>
          <a:xfrm>
            <a:off x="10835640" y="2590800"/>
            <a:ext cx="76200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8458200" y="2987040"/>
            <a:ext cx="321564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3970">
            <a:solidFill>
              <a:srgbClr val="BBF7D0"/>
            </a:solidFill>
            <a:prstDash val="solid"/>
          </a:ln>
        </p:spPr>
      </p:sp>
      <p:sp>
        <p:nvSpPr>
          <p:cNvPr id="90" name="Text 88"/>
          <p:cNvSpPr txBox="1"/>
          <p:nvPr/>
        </p:nvSpPr>
        <p:spPr>
          <a:xfrm>
            <a:off x="8564880" y="3048000"/>
            <a:ext cx="300228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Drafting Agent</a:t>
            </a:r>
            <a:endParaRPr lang="en-US" sz="1050" dirty="0"/>
          </a:p>
        </p:txBody>
      </p:sp>
      <p:sp>
        <p:nvSpPr>
          <p:cNvPr id="91" name="Text 89"/>
          <p:cNvSpPr txBox="1"/>
          <p:nvPr/>
        </p:nvSpPr>
        <p:spPr>
          <a:xfrm>
            <a:off x="8564880" y="3185160"/>
            <a:ext cx="300228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 · notice · petition</a:t>
            </a:r>
            <a:endParaRPr lang="en-US" sz="800" dirty="0"/>
          </a:p>
        </p:txBody>
      </p:sp>
      <p:sp>
        <p:nvSpPr>
          <p:cNvPr id="92" name="Text 90"/>
          <p:cNvSpPr txBox="1"/>
          <p:nvPr/>
        </p:nvSpPr>
        <p:spPr>
          <a:xfrm>
            <a:off x="10835640" y="3032760"/>
            <a:ext cx="76200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10066020" y="2910840"/>
            <a:ext cx="0" cy="7620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94" name="Shape 92"/>
          <p:cNvSpPr/>
          <p:nvPr/>
        </p:nvSpPr>
        <p:spPr>
          <a:xfrm>
            <a:off x="8458200" y="3429000"/>
            <a:ext cx="321564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3970">
            <a:solidFill>
              <a:srgbClr val="BBF7D0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8564880" y="3489960"/>
            <a:ext cx="300228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Builder</a:t>
            </a:r>
            <a:endParaRPr lang="en-US" sz="1050" dirty="0"/>
          </a:p>
        </p:txBody>
      </p:sp>
      <p:sp>
        <p:nvSpPr>
          <p:cNvPr id="96" name="Text 94"/>
          <p:cNvSpPr txBox="1"/>
          <p:nvPr/>
        </p:nvSpPr>
        <p:spPr>
          <a:xfrm>
            <a:off x="8564880" y="3627120"/>
            <a:ext cx="300228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against statutory clocks</a:t>
            </a:r>
            <a:endParaRPr lang="en-US" sz="800" dirty="0"/>
          </a:p>
        </p:txBody>
      </p:sp>
      <p:sp>
        <p:nvSpPr>
          <p:cNvPr id="97" name="Text 95"/>
          <p:cNvSpPr txBox="1"/>
          <p:nvPr/>
        </p:nvSpPr>
        <p:spPr>
          <a:xfrm>
            <a:off x="10835640" y="3474720"/>
            <a:ext cx="76200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</a:t>
            </a:r>
            <a:endParaRPr lang="en-US" sz="700" dirty="0"/>
          </a:p>
        </p:txBody>
      </p:sp>
      <p:sp>
        <p:nvSpPr>
          <p:cNvPr id="98" name="Shape 96"/>
          <p:cNvSpPr/>
          <p:nvPr/>
        </p:nvSpPr>
        <p:spPr>
          <a:xfrm>
            <a:off x="10066020" y="3352800"/>
            <a:ext cx="0" cy="7620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99" name="Shape 97"/>
          <p:cNvSpPr/>
          <p:nvPr/>
        </p:nvSpPr>
        <p:spPr>
          <a:xfrm>
            <a:off x="8458200" y="3870960"/>
            <a:ext cx="321564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3970">
            <a:solidFill>
              <a:srgbClr val="BBF7D0"/>
            </a:solidFill>
            <a:prstDash val="solid"/>
          </a:ln>
        </p:spPr>
      </p:sp>
      <p:sp>
        <p:nvSpPr>
          <p:cNvPr id="100" name="Text 98"/>
          <p:cNvSpPr txBox="1"/>
          <p:nvPr/>
        </p:nvSpPr>
        <p:spPr>
          <a:xfrm>
            <a:off x="8564880" y="3931920"/>
            <a:ext cx="300228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+ Defence</a:t>
            </a:r>
            <a:endParaRPr lang="en-US" sz="1050" dirty="0"/>
          </a:p>
        </p:txBody>
      </p:sp>
      <p:sp>
        <p:nvSpPr>
          <p:cNvPr id="101" name="Text 99"/>
          <p:cNvSpPr txBox="1"/>
          <p:nvPr/>
        </p:nvSpPr>
        <p:spPr>
          <a:xfrm>
            <a:off x="8564880" y="4069080"/>
            <a:ext cx="300228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BNSS duties · defence arguments</a:t>
            </a:r>
            <a:endParaRPr lang="en-US" sz="800" dirty="0"/>
          </a:p>
        </p:txBody>
      </p:sp>
      <p:sp>
        <p:nvSpPr>
          <p:cNvPr id="102" name="Text 100"/>
          <p:cNvSpPr txBox="1"/>
          <p:nvPr/>
        </p:nvSpPr>
        <p:spPr>
          <a:xfrm>
            <a:off x="10835640" y="3916680"/>
            <a:ext cx="76200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SVC+AGENT</a:t>
            </a:r>
            <a:endParaRPr lang="en-US" sz="700" dirty="0"/>
          </a:p>
        </p:txBody>
      </p:sp>
      <p:sp>
        <p:nvSpPr>
          <p:cNvPr id="103" name="Shape 101"/>
          <p:cNvSpPr/>
          <p:nvPr/>
        </p:nvSpPr>
        <p:spPr>
          <a:xfrm>
            <a:off x="10066020" y="3794760"/>
            <a:ext cx="0" cy="7620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04" name="Shape 102"/>
          <p:cNvSpPr/>
          <p:nvPr/>
        </p:nvSpPr>
        <p:spPr>
          <a:xfrm>
            <a:off x="8458200" y="4312920"/>
            <a:ext cx="3215640" cy="3657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3970">
            <a:solidFill>
              <a:srgbClr val="BBF7D0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8564880" y="4373880"/>
            <a:ext cx="300228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Publication Agent</a:t>
            </a:r>
            <a:endParaRPr lang="en-US" sz="1050" dirty="0"/>
          </a:p>
        </p:txBody>
      </p:sp>
      <p:sp>
        <p:nvSpPr>
          <p:cNvPr id="106" name="Text 104"/>
          <p:cNvSpPr txBox="1"/>
          <p:nvPr/>
        </p:nvSpPr>
        <p:spPr>
          <a:xfrm>
            <a:off x="8564880" y="4511040"/>
            <a:ext cx="300228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assemble · cite · export</a:t>
            </a:r>
            <a:endParaRPr lang="en-US" sz="800" dirty="0"/>
          </a:p>
        </p:txBody>
      </p:sp>
      <p:sp>
        <p:nvSpPr>
          <p:cNvPr id="107" name="Text 105"/>
          <p:cNvSpPr txBox="1"/>
          <p:nvPr/>
        </p:nvSpPr>
        <p:spPr>
          <a:xfrm>
            <a:off x="10835640" y="4358640"/>
            <a:ext cx="76200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700" dirty="0"/>
          </a:p>
        </p:txBody>
      </p:sp>
      <p:sp>
        <p:nvSpPr>
          <p:cNvPr id="108" name="Shape 106"/>
          <p:cNvSpPr/>
          <p:nvPr/>
        </p:nvSpPr>
        <p:spPr>
          <a:xfrm>
            <a:off x="10066020" y="4236720"/>
            <a:ext cx="0" cy="7620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09" name="Shape 107"/>
          <p:cNvSpPr/>
          <p:nvPr/>
        </p:nvSpPr>
        <p:spPr>
          <a:xfrm>
            <a:off x="624840" y="4922520"/>
            <a:ext cx="3093720" cy="441960"/>
          </a:xfrm>
          <a:prstGeom prst="roundRect">
            <a:avLst>
              <a:gd name="adj" fmla="val 16552"/>
            </a:avLst>
          </a:prstGeom>
          <a:solidFill>
            <a:srgbClr val="FFFBEB"/>
          </a:solidFill>
          <a:ln w="13970">
            <a:solidFill>
              <a:srgbClr val="FCD34D"/>
            </a:solidFill>
            <a:prstDash val="solid"/>
          </a:ln>
        </p:spPr>
      </p:sp>
      <p:sp>
        <p:nvSpPr>
          <p:cNvPr id="110" name="Text 108"/>
          <p:cNvSpPr txBox="1"/>
          <p:nvPr/>
        </p:nvSpPr>
        <p:spPr>
          <a:xfrm>
            <a:off x="731520" y="5021580"/>
            <a:ext cx="288036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· Ranked Passages</a:t>
            </a:r>
            <a:endParaRPr lang="en-US" sz="1050" dirty="0"/>
          </a:p>
        </p:txBody>
      </p:sp>
      <p:sp>
        <p:nvSpPr>
          <p:cNvPr id="111" name="Text 109"/>
          <p:cNvSpPr txBox="1"/>
          <p:nvPr/>
        </p:nvSpPr>
        <p:spPr>
          <a:xfrm>
            <a:off x="731520" y="5158740"/>
            <a:ext cx="288036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authority itself, for a professional to read</a:t>
            </a:r>
            <a:endParaRPr lang="en-US" sz="800" dirty="0"/>
          </a:p>
        </p:txBody>
      </p:sp>
      <p:sp>
        <p:nvSpPr>
          <p:cNvPr id="112" name="Shape 110"/>
          <p:cNvSpPr/>
          <p:nvPr/>
        </p:nvSpPr>
        <p:spPr>
          <a:xfrm>
            <a:off x="2110740" y="4800600"/>
            <a:ext cx="0" cy="12192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13" name="Shape 111"/>
          <p:cNvSpPr/>
          <p:nvPr/>
        </p:nvSpPr>
        <p:spPr>
          <a:xfrm>
            <a:off x="4602480" y="4922520"/>
            <a:ext cx="3093720" cy="441960"/>
          </a:xfrm>
          <a:prstGeom prst="roundRect">
            <a:avLst>
              <a:gd name="adj" fmla="val 16552"/>
            </a:avLst>
          </a:prstGeom>
          <a:solidFill>
            <a:srgbClr val="FFFBEB"/>
          </a:solidFill>
          <a:ln w="13970">
            <a:solidFill>
              <a:srgbClr val="FCD34D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4709160" y="5021580"/>
            <a:ext cx="288036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· Search Answer</a:t>
            </a:r>
            <a:endParaRPr lang="en-US" sz="1050" dirty="0"/>
          </a:p>
        </p:txBody>
      </p:sp>
      <p:sp>
        <p:nvSpPr>
          <p:cNvPr id="115" name="Text 113"/>
          <p:cNvSpPr txBox="1"/>
          <p:nvPr/>
        </p:nvSpPr>
        <p:spPr>
          <a:xfrm>
            <a:off x="4709160" y="5158740"/>
            <a:ext cx="288036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numbered citations · confidence · currency notice</a:t>
            </a:r>
            <a:endParaRPr lang="en-US" sz="800" dirty="0"/>
          </a:p>
        </p:txBody>
      </p:sp>
      <p:sp>
        <p:nvSpPr>
          <p:cNvPr id="116" name="Shape 114"/>
          <p:cNvSpPr/>
          <p:nvPr/>
        </p:nvSpPr>
        <p:spPr>
          <a:xfrm>
            <a:off x="6088380" y="4800600"/>
            <a:ext cx="0" cy="12192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17" name="Shape 115"/>
          <p:cNvSpPr/>
          <p:nvPr/>
        </p:nvSpPr>
        <p:spPr>
          <a:xfrm>
            <a:off x="8580120" y="4922520"/>
            <a:ext cx="3093720" cy="441960"/>
          </a:xfrm>
          <a:prstGeom prst="roundRect">
            <a:avLst>
              <a:gd name="adj" fmla="val 16552"/>
            </a:avLst>
          </a:prstGeom>
          <a:solidFill>
            <a:srgbClr val="FFFBEB"/>
          </a:solidFill>
          <a:ln w="13970">
            <a:solidFill>
              <a:srgbClr val="FCD34D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8686800" y="5021580"/>
            <a:ext cx="288036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· Case Artefacts</a:t>
            </a:r>
            <a:endParaRPr lang="en-US" sz="1050" dirty="0"/>
          </a:p>
        </p:txBody>
      </p:sp>
      <p:sp>
        <p:nvSpPr>
          <p:cNvPr id="119" name="Text 117"/>
          <p:cNvSpPr txBox="1"/>
          <p:nvPr/>
        </p:nvSpPr>
        <p:spPr>
          <a:xfrm>
            <a:off x="8686800" y="5158740"/>
            <a:ext cx="288036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drafted FIR · timeline · compliance report</a:t>
            </a:r>
            <a:endParaRPr lang="en-US" sz="800" dirty="0"/>
          </a:p>
        </p:txBody>
      </p:sp>
      <p:sp>
        <p:nvSpPr>
          <p:cNvPr id="120" name="Shape 118"/>
          <p:cNvSpPr/>
          <p:nvPr/>
        </p:nvSpPr>
        <p:spPr>
          <a:xfrm>
            <a:off x="10066020" y="4800600"/>
            <a:ext cx="0" cy="12192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21" name="Shape 119"/>
          <p:cNvSpPr/>
          <p:nvPr/>
        </p:nvSpPr>
        <p:spPr>
          <a:xfrm flipH="1">
            <a:off x="182880" y="1539240"/>
            <a:ext cx="3246120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22" name="Shape 120"/>
          <p:cNvSpPr/>
          <p:nvPr/>
        </p:nvSpPr>
        <p:spPr>
          <a:xfrm>
            <a:off x="182880" y="1539240"/>
            <a:ext cx="0" cy="423672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23" name="Shape 121"/>
          <p:cNvSpPr/>
          <p:nvPr/>
        </p:nvSpPr>
        <p:spPr>
          <a:xfrm>
            <a:off x="335280" y="5471160"/>
            <a:ext cx="11521440" cy="1082040"/>
          </a:xfrm>
          <a:prstGeom prst="roundRect">
            <a:avLst>
              <a:gd name="adj" fmla="val 845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457200" y="5532120"/>
            <a:ext cx="685800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FOUNDATION — every lane above reads the law through these</a:t>
            </a:r>
            <a:endParaRPr lang="en-US" sz="900" dirty="0"/>
          </a:p>
        </p:txBody>
      </p:sp>
      <p:sp>
        <p:nvSpPr>
          <p:cNvPr id="125" name="Shape 123"/>
          <p:cNvSpPr/>
          <p:nvPr/>
        </p:nvSpPr>
        <p:spPr>
          <a:xfrm>
            <a:off x="457200" y="5745480"/>
            <a:ext cx="1767840" cy="4876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3970">
            <a:solidFill>
              <a:srgbClr val="BFDBFE"/>
            </a:solidFill>
            <a:prstDash val="solid"/>
          </a:ln>
        </p:spPr>
      </p:sp>
      <p:sp>
        <p:nvSpPr>
          <p:cNvPr id="126" name="Text 124"/>
          <p:cNvSpPr txBox="1"/>
          <p:nvPr/>
        </p:nvSpPr>
        <p:spPr>
          <a:xfrm>
            <a:off x="563880" y="5867400"/>
            <a:ext cx="155448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</a:t>
            </a:r>
            <a:endParaRPr lang="en-US" sz="1050" dirty="0"/>
          </a:p>
        </p:txBody>
      </p:sp>
      <p:sp>
        <p:nvSpPr>
          <p:cNvPr id="127" name="Text 125"/>
          <p:cNvSpPr txBox="1"/>
          <p:nvPr/>
        </p:nvSpPr>
        <p:spPr>
          <a:xfrm>
            <a:off x="563880" y="6004560"/>
            <a:ext cx="155448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Code · High Courts · NALSA</a:t>
            </a:r>
            <a:endParaRPr lang="en-US" sz="800" dirty="0"/>
          </a:p>
        </p:txBody>
      </p:sp>
      <p:sp>
        <p:nvSpPr>
          <p:cNvPr id="128" name="Shape 126"/>
          <p:cNvSpPr/>
          <p:nvPr/>
        </p:nvSpPr>
        <p:spPr>
          <a:xfrm>
            <a:off x="2346960" y="5745480"/>
            <a:ext cx="1767840" cy="4876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3970">
            <a:solidFill>
              <a:srgbClr val="DDD6FE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2453640" y="5867400"/>
            <a:ext cx="155448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 + Job Worker</a:t>
            </a:r>
            <a:endParaRPr lang="en-US" sz="1050" dirty="0"/>
          </a:p>
        </p:txBody>
      </p:sp>
      <p:sp>
        <p:nvSpPr>
          <p:cNvPr id="130" name="Text 128"/>
          <p:cNvSpPr txBox="1"/>
          <p:nvPr/>
        </p:nvSpPr>
        <p:spPr>
          <a:xfrm>
            <a:off x="2453640" y="6004560"/>
            <a:ext cx="155448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→ chunk → embed · async</a:t>
            </a:r>
            <a:endParaRPr lang="en-US" sz="800" dirty="0"/>
          </a:p>
        </p:txBody>
      </p:sp>
      <p:sp>
        <p:nvSpPr>
          <p:cNvPr id="131" name="Shape 129"/>
          <p:cNvSpPr/>
          <p:nvPr/>
        </p:nvSpPr>
        <p:spPr>
          <a:xfrm>
            <a:off x="4236720" y="5745480"/>
            <a:ext cx="1767840" cy="4876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3970">
            <a:solidFill>
              <a:srgbClr val="DDD6FE"/>
            </a:solidFill>
            <a:prstDash val="solid"/>
          </a:ln>
        </p:spPr>
      </p:sp>
      <p:sp>
        <p:nvSpPr>
          <p:cNvPr id="132" name="Text 130"/>
          <p:cNvSpPr txBox="1"/>
          <p:nvPr/>
        </p:nvSpPr>
        <p:spPr>
          <a:xfrm>
            <a:off x="4343400" y="5867400"/>
            <a:ext cx="155448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Qdrant 1.18</a:t>
            </a:r>
            <a:endParaRPr lang="en-US" sz="1050" dirty="0"/>
          </a:p>
        </p:txBody>
      </p:sp>
      <p:sp>
        <p:nvSpPr>
          <p:cNvPr id="133" name="Text 131"/>
          <p:cNvSpPr txBox="1"/>
          <p:nvPr/>
        </p:nvSpPr>
        <p:spPr>
          <a:xfrm>
            <a:off x="4343400" y="6004560"/>
            <a:ext cx="155448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global_legal_corpus_v4 · 1,036 docs</a:t>
            </a:r>
            <a:endParaRPr lang="en-US" sz="800" dirty="0"/>
          </a:p>
        </p:txBody>
      </p:sp>
      <p:sp>
        <p:nvSpPr>
          <p:cNvPr id="134" name="Shape 132"/>
          <p:cNvSpPr/>
          <p:nvPr/>
        </p:nvSpPr>
        <p:spPr>
          <a:xfrm>
            <a:off x="6126480" y="5745480"/>
            <a:ext cx="1767840" cy="4876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3970">
            <a:solidFill>
              <a:srgbClr val="DDD6FE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6233160" y="5867400"/>
            <a:ext cx="155448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16 · MinIO</a:t>
            </a:r>
            <a:endParaRPr lang="en-US" sz="1050" dirty="0"/>
          </a:p>
        </p:txBody>
      </p:sp>
      <p:sp>
        <p:nvSpPr>
          <p:cNvPr id="136" name="Text 134"/>
          <p:cNvSpPr txBox="1"/>
          <p:nvPr/>
        </p:nvSpPr>
        <p:spPr>
          <a:xfrm>
            <a:off x="6233160" y="6004560"/>
            <a:ext cx="155448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tables · audit · uploads</a:t>
            </a:r>
            <a:endParaRPr lang="en-US" sz="800" dirty="0"/>
          </a:p>
        </p:txBody>
      </p:sp>
      <p:sp>
        <p:nvSpPr>
          <p:cNvPr id="137" name="Shape 135"/>
          <p:cNvSpPr/>
          <p:nvPr/>
        </p:nvSpPr>
        <p:spPr>
          <a:xfrm>
            <a:off x="8016240" y="5745480"/>
            <a:ext cx="1767840" cy="4876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3970">
            <a:solidFill>
              <a:srgbClr val="99F6E4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8122920" y="5867400"/>
            <a:ext cx="155448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+ Concordance</a:t>
            </a:r>
            <a:endParaRPr lang="en-US" sz="1050" dirty="0"/>
          </a:p>
        </p:txBody>
      </p:sp>
      <p:sp>
        <p:nvSpPr>
          <p:cNvPr id="139" name="Text 137"/>
          <p:cNvSpPr txBox="1"/>
          <p:nvPr/>
        </p:nvSpPr>
        <p:spPr>
          <a:xfrm>
            <a:off x="8122920" y="6004560"/>
            <a:ext cx="155448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 hybrid + RRF · IPC/CrPC → Sanhitas</a:t>
            </a:r>
            <a:endParaRPr lang="en-US" sz="800" dirty="0"/>
          </a:p>
        </p:txBody>
      </p:sp>
      <p:sp>
        <p:nvSpPr>
          <p:cNvPr id="140" name="Shape 138"/>
          <p:cNvSpPr/>
          <p:nvPr/>
        </p:nvSpPr>
        <p:spPr>
          <a:xfrm>
            <a:off x="9906000" y="5745480"/>
            <a:ext cx="1767840" cy="4876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3970">
            <a:solidFill>
              <a:srgbClr val="FCD34D"/>
            </a:solidFill>
            <a:prstDash val="solid"/>
          </a:ln>
        </p:spPr>
      </p:sp>
      <p:sp>
        <p:nvSpPr>
          <p:cNvPr id="141" name="Text 139"/>
          <p:cNvSpPr txBox="1"/>
          <p:nvPr/>
        </p:nvSpPr>
        <p:spPr>
          <a:xfrm>
            <a:off x="10012680" y="5867400"/>
            <a:ext cx="155448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Router → LLMs</a:t>
            </a:r>
            <a:endParaRPr lang="en-US" sz="1050" dirty="0"/>
          </a:p>
        </p:txBody>
      </p:sp>
      <p:sp>
        <p:nvSpPr>
          <p:cNvPr id="142" name="Text 140"/>
          <p:cNvSpPr txBox="1"/>
          <p:nvPr/>
        </p:nvSpPr>
        <p:spPr>
          <a:xfrm>
            <a:off x="10012680" y="6004560"/>
            <a:ext cx="1554480" cy="10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NOT WIRED · Ollama ACTIVE</a:t>
            </a:r>
            <a:endParaRPr lang="en-US" sz="800" dirty="0"/>
          </a:p>
        </p:txBody>
      </p:sp>
      <p:sp>
        <p:nvSpPr>
          <p:cNvPr id="143" name="Shape 141"/>
          <p:cNvSpPr/>
          <p:nvPr/>
        </p:nvSpPr>
        <p:spPr>
          <a:xfrm flipV="1">
            <a:off x="449580" y="4770120"/>
            <a:ext cx="0" cy="70104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44" name="Shape 142"/>
          <p:cNvSpPr/>
          <p:nvPr/>
        </p:nvSpPr>
        <p:spPr>
          <a:xfrm flipV="1">
            <a:off x="4427220" y="4770120"/>
            <a:ext cx="0" cy="70104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45" name="Shape 143"/>
          <p:cNvSpPr/>
          <p:nvPr/>
        </p:nvSpPr>
        <p:spPr>
          <a:xfrm flipV="1">
            <a:off x="8404860" y="4770120"/>
            <a:ext cx="0" cy="70104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46" name="Text 144"/>
          <p:cNvSpPr txBox="1"/>
          <p:nvPr/>
        </p:nvSpPr>
        <p:spPr>
          <a:xfrm>
            <a:off x="335280" y="6614160"/>
            <a:ext cx="11521440" cy="12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flow ──▶   Retry / refusal ╬╬▶   AGENT = backend/app/agents/   ·   Fast calls no LLM (fast_research.py:408)   ·   Cross-encoder reranking is OFF: +5,126 ms/query, R@1 0.69→0.64 (config.py:62)   ·   Gemini NOT WIRED — Ollama qwen3-14b-16k serves every request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Corpusil System Architecture</dc:title>
  <dc:subject>PptxGenJS Presentation</dc:subject>
  <dc:creator>PptxGenJS</dc:creator>
  <cp:lastModifiedBy>PptxGenJS</cp:lastModifiedBy>
  <cp:revision>1</cp:revision>
  <dcterms:created xsi:type="dcterms:W3CDTF">2026-10-07T20:40:15Z</dcterms:created>
  <dcterms:modified xsi:type="dcterms:W3CDTF">2026-10-07T20:40:15Z</dcterms:modified>
</cp:coreProperties>
</file>