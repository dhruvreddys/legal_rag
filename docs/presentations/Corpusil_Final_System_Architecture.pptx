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3d42a6f884396" /><Relationship Type="http://schemas.openxmlformats.org/officeDocument/2006/relationships/extended-properties" Target="/docProps/app.xml" Id="R84c159c5a38d450d" /><Relationship Type="http://schemas.openxmlformats.org/officeDocument/2006/relationships/officeDocument" Target="/ppt/presentation.xml" Id="R339ce225924f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29c115aa949ad"/>
  </p:sldMasterIdLst>
  <p:notesMasterIdLst>
    <p:notesMasterId xmlns:r="http://schemas.openxmlformats.org/officeDocument/2006/relationships" r:id="Rf4f9618ea6944e9b"/>
  </p:notesMasterIdLst>
  <p:sldIdLst>
    <p:sldId xmlns:r="http://schemas.openxmlformats.org/officeDocument/2006/relationships" id="256" r:id="R1a929d58ae594b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d18ca3e21846dc" /><Relationship Type="http://schemas.openxmlformats.org/officeDocument/2006/relationships/slideMaster" Target="/ppt/slideMasters/slideMaster1.xml" Id="R93229c115aa949ad" /><Relationship Type="http://schemas.openxmlformats.org/officeDocument/2006/relationships/notesMaster" Target="/ppt/notesMasters/notesMaster1.xml" Id="Rf4f9618ea6944e9b" /><Relationship Type="http://schemas.openxmlformats.org/officeDocument/2006/relationships/presProps" Target="/ppt/presProps.xml" Id="R19d0cab22adf446f" /><Relationship Type="http://schemas.openxmlformats.org/officeDocument/2006/relationships/tableStyles" Target="/ppt/tableStyles.xml" Id="R21b9de66b7734c41" /><Relationship Type="http://schemas.openxmlformats.org/officeDocument/2006/relationships/slide" Target="/ppt/slides/slide1.xml" Id="R1a929d58ae59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01095df4b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5f1a7afaf47d1" /><Relationship Type="http://schemas.openxmlformats.org/officeDocument/2006/relationships/notesMaster" Target="/ppt/notesMasters/notesMaster1.xml" Id="R69c3792b55d3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frontend/lib/api.ts, backend/main.py, backend/app/core/case_scope.py, backend/app/services/adaptive_routing.py, backend/app/services/fast_research.py, backend/app/agents/orchestrator.py, backend/app/services/retrieval.py, backend/app/agents/response_generation.py, backend/app/services/job_worker.py, backend/app/agents/drafting_agent.py, backend/app/services/storage.py and backend/app/services/llm.py. Gemini Flash is shown from the project-owner supplied deployment design. The slide intentionally excludes corpus ingestion, internal LangGraph node detail, bail prediction and the AI legal debate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82d85474d4a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a5eb12a99485d" /><Relationship Type="http://schemas.openxmlformats.org/officeDocument/2006/relationships/slideLayout" Target="/ppt/slideLayouts/slideLayout1.xml" Id="Rf3d03899fab9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03899fab9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ed5e8c8954620" /><Relationship Type="http://schemas.openxmlformats.org/officeDocument/2006/relationships/notesSlide" Target="/ppt/notesSlides/notesSlide1.xml" Id="Re8b1458e0a814c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9D9527-080F-4C5B-B4E0-DF3FF95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7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B09C3-0B88-4A6F-B94F-50B4D7FC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Corpusil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AF4C-9331-4DAA-AAFF-31B5F72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9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579"/>
                </a:solidFill>
                <a:latin typeface="Aptos"/>
                <a:ea typeface="Aptos"/>
                <a:cs typeface="Aptos"/>
              </a:rPr>
              <a:t>Multi-Agent Legal RAG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AD060-B629-407E-B9D8-BF0D120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9"/>
                </a:solidFill>
                <a:latin typeface="Aptos"/>
                <a:ea typeface="Aptos"/>
                <a:cs typeface="Aptos"/>
              </a:rPr>
              <a:t>Runtime architecture · 16:9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6933C-7ACB-4B07-A62B-FA893AE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9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87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579"/>
                </a:solidFill>
                <a:latin typeface="Aptos"/>
                <a:ea typeface="Aptos"/>
                <a:cs typeface="Aptos"/>
              </a:rPr>
              <a:t>PRIMARY REQUEST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95E3A-9E3B-4711-94CD-E8EFEFEF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87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579"/>
                </a:solidFill>
                <a:latin typeface="Aptos"/>
                <a:ea typeface="Aptos"/>
                <a:cs typeface="Aptos"/>
              </a:rPr>
              <a:t>CASE SERVICES AND ASYNC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924E5-B4C1-4877-BD7C-3F38972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87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579"/>
                </a:solidFill>
                <a:latin typeface="Aptos"/>
                <a:ea typeface="Aptos"/>
                <a:cs typeface="Aptos"/>
              </a:rPr>
              <a:t>LEGAL AI, OUTPUT AND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4FFA6-1EAC-45D1-B2CB-3BC03BC5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0495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6193">
            <a:solidFill>
              <a:srgbClr val="8796A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Input Roles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Citizen · Police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Advocate ·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203D-B6DB-4A56-84AA-13C9C00C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1352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2F4F7"/>
          </a:solidFill>
          <a:ln xmlns:a="http://schemas.openxmlformats.org/drawingml/2006/main" w="16193">
            <a:solidFill>
              <a:srgbClr val="23879A"/>
            </a:solidFill>
          </a:ln>
        </p:spPr>
        <p:txBody>
          <a:bodyPr xmlns:a="http://schemas.openxmlformats.org/drawingml/2006/main" anchor="ctr">
            <a:normAutofit fontScale="85637"/>
          </a:bodyPr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Client Apps</a:t>
            </a:r>
          </a:p>
          <a:p xmlns:a="http://schemas.openxmlformats.org/drawingml/2006/main">
            <a:pPr algn="ctr">
              <a:defRPr sz="93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Next.js 14 Web · Tauri Desktop</a:t>
            </a:r>
          </a:p>
          <a:p xmlns:a="http://schemas.openxmlformats.org/drawingml/2006/main">
            <a:pPr algn="ctr">
              <a:defRPr sz="93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Role-gated workspaces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42D8C-9A10-4FE0-913D-0F038BAB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04950"/>
            <a:ext cx="1352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6193">
            <a:solidFill>
              <a:srgbClr val="2B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FastAPI Gateway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Auth · RBAC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Rate limits ·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6B63F-FD1B-40B7-AC3C-B2DDC5FC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04950"/>
            <a:ext cx="1352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6193">
            <a:solidFill>
              <a:srgbClr val="C47B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Safety &amp; Scope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Emergency screen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Case isolation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BC666-3544-4C29-896F-DAE13D90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1276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8FF"/>
          </a:solidFill>
          <a:ln xmlns:a="http://schemas.openxmlformats.org/drawingml/2006/main" w="16193">
            <a:solidFill>
              <a:srgbClr val="7652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Adaptive Router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Rule-based</a:t>
            </a:r>
          </a:p>
          <a:p xmlns:a="http://schemas.openxmlformats.org/drawingml/2006/main">
            <a:pPr algn="ctr">
              <a:defRPr sz="975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Fast or Deep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613CA-57B0-4706-83BD-A947F5C1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1695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16193">
            <a:solidFill>
              <a:srgbClr val="2B7DA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Fast Research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Global corpus only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Ranked evidence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A3332-1059-4936-BDB6-AFB2BFB5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1695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F5E9"/>
          </a:solidFill>
          <a:ln xmlns:a="http://schemas.openxmlformats.org/drawingml/2006/main" w="16193">
            <a:solidFill>
              <a:srgbClr val="23845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LangGraph Agent Team</a:t>
            </a:r>
          </a:p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Role · query · retrieve</a:t>
            </a:r>
          </a:p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Reason · verify · respond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60A1B-8402-475A-BED1-F875F71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200150"/>
            <a:ext cx="1752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E8E4"/>
          </a:solidFill>
          <a:ln xmlns:a="http://schemas.openxmlformats.org/drawingml/2006/main" w="19050">
            <a:solidFill>
              <a:srgbClr val="C65A4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Publication Gate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Supported claims only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Current law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9B290-84DE-443A-9866-D40CCCB4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0F4F8"/>
          </a:solidFill>
          <a:ln xmlns:a="http://schemas.openxmlformats.org/drawingml/2006/main" w="19050">
            <a:solidFill>
              <a:srgbClr val="208AA0"/>
            </a:solidFill>
          </a:ln>
        </p:spPr>
        <p:txBody>
          <a:bodyPr xmlns:a="http://schemas.openxmlformats.org/drawingml/2006/main" anchor="ctr">
            <a:normAutofit fontScale="90505"/>
          </a:bodyPr>
          <a:lstStyle xmlns:a="http://schemas.openxmlformats.org/drawingml/2006/main"/>
          <a:p xmlns:a="http://schemas.openxmlformats.org/drawingml/2006/main">
            <a:pPr algn="ctr">
              <a:defRPr sz="87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Output Layer</a:t>
            </a:r>
          </a:p>
          <a:p xmlns:a="http://schemas.openxmlformats.org/drawingml/2006/main">
            <a:pPr algn="ctr">
              <a:defRPr sz="87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Cited answer / ranked evidence</a:t>
            </a:r>
          </a:p>
          <a:p xmlns:a="http://schemas.openxmlformats.org/drawingml/2006/main">
            <a:pPr algn="ctr">
              <a:defRPr sz="87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Source · chunk · page · legal currency</a:t>
            </a:r>
          </a:p>
          <a:p xmlns:a="http://schemas.openxmlformats.org/drawingml/2006/main">
            <a:pPr algn="ctr">
              <a:defRPr sz="87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Inspector · confidence · legal/FIR drafts</a:t>
            </a:r>
          </a:p>
          <a:p xmlns:a="http://schemas.openxmlformats.org/drawingml/2006/main">
            <a:pPr algn="ctr">
              <a:defRPr sz="87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Analysis · history · job status · safe refusal</a:t>
            </a:r>
          </a:p>
        </p:txBody>
      </p:sp>
      <p:cxnSp>
        <p:nvCxnSpPr>
          <p:cNvPr id="7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524000" y="1876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9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05150" y="18764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9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18764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9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05550" y="18764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9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848600" y="1285875"/>
            <a:ext cx="24765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B7DA8"/>
            </a:solidFill>
            <a:prstDash val="dash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48600" y="1876425"/>
            <a:ext cx="2476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23845B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3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V="1">
            <a:off x="9791700" y="971550"/>
            <a:ext cx="1181100" cy="3143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B7DA8"/>
            </a:solidFill>
            <a:prstDash val="dash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4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9791700" y="1924050"/>
            <a:ext cx="1181100" cy="714375"/>
          </a:xfrm>
          <a:prstGeom xmlns:a="http://schemas.openxmlformats.org/drawingml/2006/main" prst="bentConnector2">
            <a:avLst/>
          </a:prstGeom>
          <a:ln xmlns:a="http://schemas.openxmlformats.org/drawingml/2006/main" w="22860">
            <a:solidFill>
              <a:srgbClr val="23845B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0887075" y="1924050"/>
            <a:ext cx="857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65A48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82369-3705-48C5-8EF8-0388620D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573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9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36579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9"/>
                </a:solidFill>
                <a:latin typeface="Aptos"/>
                <a:ea typeface="Aptos"/>
                <a:cs typeface="Aptos"/>
              </a:rPr>
              <a:t>role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EF873-D2C2-4ED9-96C1-FEB53F1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2573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387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879A"/>
                </a:solidFill>
                <a:latin typeface="Aptos"/>
                <a:ea typeface="Aptos"/>
                <a:cs typeface="Aptos"/>
              </a:rPr>
              <a:t>HTTPS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6BF63-6404-4047-9D80-68E80D26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573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39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B77B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B77B8"/>
                </a:solidFill>
                <a:latin typeface="Aptos"/>
                <a:ea typeface="Aptos"/>
                <a:cs typeface="Aptos"/>
              </a:rPr>
              <a:t>JWT / 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B72B6-5832-4C29-BFC2-FDACEED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573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47B0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47B0B"/>
                </a:solidFill>
                <a:latin typeface="Aptos"/>
                <a:ea typeface="Aptos"/>
                <a:cs typeface="Aptos"/>
              </a:rPr>
              <a:t>safe + authorised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F208D-DBE7-43A0-9070-74127E15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9048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B7DA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B7DA8"/>
                </a:solidFill>
                <a:latin typeface="Aptos"/>
                <a:ea typeface="Aptos"/>
                <a:cs typeface="Aptos"/>
              </a:rPr>
              <a:t>simple global query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CB069-24DF-4668-966F-2B1D0501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3845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3845B"/>
                </a:solidFill>
                <a:latin typeface="Aptos"/>
                <a:ea typeface="Aptos"/>
                <a:cs typeface="Aptos"/>
              </a:rPr>
              <a:t>complex or case query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D8E076-0CF8-485D-9C54-9368750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0191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B7DA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B7DA8"/>
                </a:solidFill>
                <a:latin typeface="Aptos"/>
                <a:ea typeface="Aptos"/>
                <a:cs typeface="Aptos"/>
              </a:rPr>
              <a:t>ranked passages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2F33C-9A15-4925-8AA9-F6CA8B0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3845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3845B"/>
                </a:solidFill>
                <a:latin typeface="Aptos"/>
                <a:ea typeface="Aptos"/>
                <a:cs typeface="Aptos"/>
              </a:rPr>
              <a:t>verified claims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44436-FC28-4557-AB46-0800D370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97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65A4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65A48"/>
                </a:solidFill>
                <a:latin typeface="Aptos"/>
                <a:ea typeface="Aptos"/>
                <a:cs typeface="Aptos"/>
              </a:rPr>
              <a:t>answer + citations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3F606A-C2A1-46A7-A65C-CFA5FD8F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6193">
            <a:solidFill>
              <a:srgbClr val="2B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Case, Document &amp; Drafting</a:t>
            </a:r>
          </a:p>
          <a:p xmlns:a="http://schemas.openxmlformats.org/drawingml/2006/main">
            <a:pPr algn="ctr">
              <a:defRPr sz="1013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Analysis · source inspector</a:t>
            </a:r>
          </a:p>
          <a:p xmlns:a="http://schemas.openxmlformats.org/drawingml/2006/main">
            <a:pPr algn="ctr">
              <a:defRPr sz="1013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FIR and legal drafts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F49786-CBDB-4D69-AF3B-EA7E75F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6193">
            <a:solidFill>
              <a:srgbClr val="C97A1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Durable Job Worker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Deep review · OCR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Analysis · progress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69ACB8-5B8C-4CA6-B58B-FDB90C0F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1752600" cy="666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5F0F1"/>
          </a:solidFill>
          <a:ln xmlns:a="http://schemas.openxmlformats.org/drawingml/2006/main" w="16193">
            <a:solidFill>
              <a:srgbClr val="2B6570"/>
            </a:solidFill>
          </a:ln>
        </p:spPr>
        <p:txBody>
          <a:bodyPr xmlns:a="http://schemas.openxmlformats.org/drawingml/2006/main" anchor="ctr">
            <a:normAutofit fontScale="8244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Users · cases · chats · jobs ·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72B168-B570-41B1-8F3D-0182E03F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0"/>
            <a:ext cx="1752600" cy="666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5F0F1"/>
          </a:solidFill>
          <a:ln xmlns:a="http://schemas.openxmlformats.org/drawingml/2006/main" w="16193">
            <a:solidFill>
              <a:srgbClr val="2B6570"/>
            </a:solidFill>
          </a:ln>
        </p:spPr>
        <p:txBody>
          <a:bodyPr xmlns:a="http://schemas.openxmlformats.org/drawingml/2006/main" anchor="ctr">
            <a:normAutofit fontScale="85071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MinIO</a:t>
            </a:r>
          </a:p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Case documents · evidence files</a:t>
            </a:r>
          </a:p>
        </p:txBody>
      </p:sp>
      <p:cxnSp>
        <p:nvCxnSpPr>
          <p:cNvPr id="99" name=""/>
          <p:cNvCxnSpPr>
            <a:stCxn xmlns:a="http://schemas.openxmlformats.org/drawingml/2006/main" id="10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2886075" y="2247900"/>
            <a:ext cx="1143000" cy="1485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77B8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10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029075" y="2247900"/>
            <a:ext cx="1304925" cy="1485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7A18"/>
            </a:solidFill>
            <a:prstDash val="dash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5" idx="2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2362200" y="4514850"/>
            <a:ext cx="52387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657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5" idx="2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886075" y="4514850"/>
            <a:ext cx="157162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657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6" idx="2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2362200" y="4514850"/>
            <a:ext cx="29718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7A18"/>
            </a:solidFill>
            <a:prstDash val="dash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55BCD-242F-47B4-82AA-394CFC0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B77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B77B8"/>
                </a:solidFill>
                <a:latin typeface="Aptos"/>
                <a:ea typeface="Aptos"/>
                <a:cs typeface="Aptos"/>
              </a:rPr>
              <a:t>case + document actions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6799E8-AB59-4B56-BCFF-D6FE0BA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97A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97A18"/>
                </a:solidFill>
                <a:latin typeface="Aptos"/>
                <a:ea typeface="Aptos"/>
                <a:cs typeface="Aptos"/>
              </a:rPr>
              <a:t>enqueue long task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A282E9-E22F-4207-9AA6-0AF8F24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958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B65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B6570"/>
                </a:solidFill>
                <a:latin typeface="Aptos"/>
                <a:ea typeface="Aptos"/>
                <a:cs typeface="Aptos"/>
              </a:rPr>
              <a:t>state + audit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0B00D1-B080-4014-BDDA-358AD06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958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B65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B6570"/>
                </a:solidFill>
                <a:latin typeface="Aptos"/>
                <a:ea typeface="Aptos"/>
                <a:cs typeface="Aptos"/>
              </a:rPr>
              <a:t>files + evidence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39F2CD-49B4-42F0-80FA-2C77D91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16193">
            <a:solidFill>
              <a:srgbClr val="2F7D7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Legal Retrieval &amp; Intelligence</a:t>
            </a:r>
          </a:p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BGE-M3 · hybrid RRF</a:t>
            </a:r>
          </a:p>
          <a:p xmlns:a="http://schemas.openxmlformats.org/drawingml/2006/main">
            <a:pPr algn="ctr">
              <a:defRPr sz="96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Currency · concordance · citation follow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6B4D63-13BD-4C1E-84D9-4D1123D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2019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16193">
            <a:solidFill>
              <a:srgbClr val="7652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AI Model Runtimes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Local Ollama · Qwen3</a:t>
            </a:r>
          </a:p>
          <a:p xmlns:a="http://schemas.openxmlformats.org/drawingml/2006/main">
            <a:pPr algn="ctr">
              <a:defRPr sz="99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Gemini Flash · API key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017B07-8A69-45E4-AEED-951866F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67350"/>
            <a:ext cx="198120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5F0F1"/>
          </a:solidFill>
          <a:ln xmlns:a="http://schemas.openxmlformats.org/drawingml/2006/main" w="16193">
            <a:solidFill>
              <a:srgbClr val="2B6570"/>
            </a:solidFill>
          </a:ln>
        </p:spPr>
        <p:txBody>
          <a:bodyPr xmlns:a="http://schemas.openxmlformats.org/drawingml/2006/main" anchor="ctr">
            <a:normAutofit fontScale="84177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Qdrant</a:t>
            </a:r>
          </a:p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Global legal corpus</a:t>
            </a:r>
          </a:p>
          <a:p xmlns:a="http://schemas.openxmlformats.org/drawingml/2006/main">
            <a:pPr algn="ctr">
              <a:defRPr sz="938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Police + Advocate case vectors</a:t>
            </a:r>
          </a:p>
        </p:txBody>
      </p:sp>
      <p:cxnSp>
        <p:nvCxnSpPr>
          <p:cNvPr id="111" name=""/>
          <p:cNvCxnSpPr>
            <a:stCxn xmlns:a="http://schemas.openxmlformats.org/drawingml/2006/main" id="13" idx="1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7715250" y="1285875"/>
            <a:ext cx="381000" cy="28860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B7DA8"/>
            </a:solidFill>
            <a:prstDash val="dash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14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7715250" y="3067050"/>
            <a:ext cx="1228725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845B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14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8943975" y="3067050"/>
            <a:ext cx="1323975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652B8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48" idx="2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715250" y="50292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6570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5C569F-BFC9-442F-BBB0-2D930BB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52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B7D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B7DA8"/>
                </a:solidFill>
                <a:latin typeface="Aptos"/>
                <a:ea typeface="Aptos"/>
                <a:cs typeface="Aptos"/>
              </a:rPr>
              <a:t>global 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51CCE4-50E2-4539-9EA4-8F34E8CE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3845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3845B"/>
                </a:solidFill>
                <a:latin typeface="Aptos"/>
                <a:ea typeface="Aptos"/>
                <a:cs typeface="Aptos"/>
              </a:rPr>
              <a:t>global + authorised case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348A28-EC9C-4C01-93E3-4251216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7652B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652B8"/>
                </a:solidFill>
                <a:latin typeface="Aptos"/>
                <a:ea typeface="Aptos"/>
                <a:cs typeface="Aptos"/>
              </a:rPr>
              <a:t>understand + reason + verify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2DCA1E-6620-4945-97E1-428F17E8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054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B65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B6570"/>
                </a:solidFill>
                <a:latin typeface="Aptos"/>
                <a:ea typeface="Aptos"/>
                <a:cs typeface="Aptos"/>
              </a:rPr>
              <a:t>hybrid vector search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2B516E-D68F-4776-B9B7-71D411EB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9850"/>
            <a:ext cx="11544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C46"/>
          </a:solidFill>
          <a:ln xmlns:a="http://schemas.openxmlformats.org/drawingml/2006/main" w="0">
            <a:solidFill>
              <a:srgbClr val="173C4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667DCB-EE99-4CFA-A706-6D9CAF9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Cross-cutting controls: role access · case isolation · audit logging · legal currency · source provenance</a:t>
            </a:r>
          </a:p>
        </p:txBody>
      </p:sp>
    </p:spTree>
    <p:extLst>
      <p:ext uri="{BB962C8B-B14F-4D97-AF65-F5344CB8AC3E}">
        <p14:creationId xmlns:p14="http://schemas.microsoft.com/office/powerpoint/2010/main" val="670654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2026-10-06T07:40:59.3030000Z</dcterms:created>
  <dcterms:modified xsi:type="dcterms:W3CDTF">2026-10-06T07:40:59.3030000Z</dcterms:modified>
</coreProperties>
</file>